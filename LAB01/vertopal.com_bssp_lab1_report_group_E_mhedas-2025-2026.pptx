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40.xml" ContentType="application/vnd.openxmlformats-officedocument.presentationml.slide+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2.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1.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2.xml.rels" ContentType="application/vnd.openxmlformats-package.relationships+xml"/>
  <Override PartName="/ppt/slides/_rels/slide49.xml.rels" ContentType="application/vnd.openxmlformats-package.relationships+xml"/>
  <Override PartName="/ppt/slides/_rels/slide51.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9.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50.xml.rels" ContentType="application/vnd.openxmlformats-package.relationships+xml"/>
  <Override PartName="/ppt/slides/_rels/slide13.xml.rels" ContentType="application/vnd.openxmlformats-package.relationships+xml"/>
  <Override PartName="/ppt/slides/_rels/slide4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57.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58.xml.rels" ContentType="application/vnd.openxmlformats-package.relationships+xml"/>
  <Override PartName="/ppt/slides/slide38.xml" ContentType="application/vnd.openxmlformats-officedocument.presentationml.slide+xml"/>
  <Override PartName="/ppt/slides/slide52.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54.xml" ContentType="application/vnd.openxmlformats-officedocument.presentationml.slide+xml"/>
  <Override PartName="/ppt/slides/slide43.xml" ContentType="application/vnd.openxmlformats-officedocument.presentationml.slide+xml"/>
  <Override PartName="/ppt/slides/slide55.xml" ContentType="application/vnd.openxmlformats-officedocument.presentationml.slide+xml"/>
  <Override PartName="/ppt/slides/slide44.xml" ContentType="application/vnd.openxmlformats-officedocument.presentationml.slide+xml"/>
  <Override PartName="/ppt/slides/slide56.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_rels/presentation.xml.rels" ContentType="application/vnd.openxmlformats-package.relationships+xml"/>
  <Override PartName="/ppt/media/image29.png" ContentType="image/png"/>
  <Override PartName="/ppt/media/image28.png" ContentType="image/png"/>
  <Override PartName="/ppt/media/image27.png" ContentType="image/png"/>
  <Override PartName="/ppt/media/image26.png" ContentType="image/png"/>
  <Override PartName="/ppt/media/image25.png" ContentType="image/png"/>
  <Override PartName="/ppt/media/image24.png" ContentType="image/png"/>
  <Override PartName="/ppt/media/image23.png" ContentType="image/png"/>
  <Override PartName="/ppt/media/image22.png" ContentType="image/png"/>
  <Override PartName="/ppt/media/image59.png" ContentType="image/png"/>
  <Override PartName="/ppt/media/image21.png" ContentType="image/png"/>
  <Override PartName="/ppt/media/image58.png" ContentType="image/png"/>
  <Override PartName="/ppt/media/image19.png" ContentType="image/png"/>
  <Override PartName="/ppt/media/image1.jpeg" ContentType="image/jpeg"/>
  <Override PartName="/ppt/media/image10.png" ContentType="image/png"/>
  <Override PartName="/ppt/media/image47.png" ContentType="image/png"/>
  <Override PartName="/ppt/media/image15.png" ContentType="image/png"/>
  <Override PartName="/ppt/media/image6.png" ContentType="image/png"/>
  <Override PartName="/ppt/media/image38.png" ContentType="image/png"/>
  <Override PartName="/ppt/media/image3.jpeg" ContentType="image/jpeg"/>
  <Override PartName="/ppt/media/image30.png" ContentType="image/png"/>
  <Override PartName="/ppt/media/image14.png" ContentType="image/png"/>
  <Override PartName="/ppt/media/image5.png" ContentType="image/png"/>
  <Override PartName="/ppt/media/image37.png" ContentType="image/png"/>
  <Override PartName="/ppt/media/image16.png" ContentType="image/png"/>
  <Override PartName="/ppt/media/image7.png" ContentType="image/png"/>
  <Override PartName="/ppt/media/image39.png" ContentType="image/png"/>
  <Override PartName="/ppt/media/image2.png" ContentType="image/png"/>
  <Override PartName="/ppt/media/image34.png" ContentType="image/png"/>
  <Override PartName="/ppt/media/image11.png" ContentType="image/png"/>
  <Override PartName="/ppt/media/image48.png" ContentType="image/png"/>
  <Override PartName="/ppt/media/image45.png" ContentType="image/png"/>
  <Override PartName="/ppt/media/image46.png" ContentType="image/png"/>
  <Override PartName="/ppt/media/image50.png" ContentType="image/png"/>
  <Override PartName="/ppt/media/image13.png" ContentType="image/png"/>
  <Override PartName="/ppt/media/image51.png" ContentType="image/png"/>
  <Override PartName="/ppt/media/image52.png" ContentType="image/png"/>
  <Override PartName="/ppt/media/image41.png" ContentType="image/png"/>
  <Override PartName="/ppt/media/image53.png" ContentType="image/png"/>
  <Override PartName="/ppt/media/image42.png" ContentType="image/png"/>
  <Override PartName="/ppt/media/image54.png" ContentType="image/png"/>
  <Override PartName="/ppt/media/image8.png" ContentType="image/png"/>
  <Override PartName="/ppt/media/image17.png" ContentType="image/png"/>
  <Override PartName="/ppt/media/image43.png" ContentType="image/png"/>
  <Override PartName="/ppt/media/image55.png" ContentType="image/png"/>
  <Override PartName="/ppt/media/image9.png" ContentType="image/png"/>
  <Override PartName="/ppt/media/image18.png" ContentType="image/png"/>
  <Override PartName="/ppt/media/image44.png" ContentType="image/png"/>
  <Override PartName="/ppt/media/image56.png" ContentType="image/png"/>
  <Override PartName="/ppt/media/image40.png" ContentType="image/png"/>
  <Override PartName="/ppt/media/image35.png" ContentType="image/png"/>
  <Override PartName="/ppt/media/image33.png" ContentType="image/png"/>
  <Override PartName="/ppt/media/image32.png" ContentType="image/png"/>
  <Override PartName="/ppt/media/image31.png" ContentType="image/png"/>
  <Override PartName="/ppt/media/image4.png" ContentType="image/png"/>
  <Override PartName="/ppt/media/image36.png" ContentType="image/png"/>
  <Override PartName="/ppt/media/image20.png" ContentType="image/png"/>
  <Override PartName="/ppt/media/image57.png" ContentType="image/png"/>
  <Override PartName="/ppt/media/image49.png" ContentType="image/png"/>
  <Override PartName="/ppt/media/image12.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3" name="PlaceHolder 2"/>
          <p:cNvSpPr>
            <a:spLocks noGrp="1"/>
          </p:cNvSpPr>
          <p:nvPr>
            <p:ph type="subTitle"/>
          </p:nvPr>
        </p:nvSpPr>
        <p:spPr>
          <a:xfrm>
            <a:off x="609480" y="1520280"/>
            <a:ext cx="10972080" cy="37684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59200"/>
            <a:ext cx="10972080" cy="108468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 name="PlaceHolder 2"/>
          <p:cNvSpPr>
            <a:spLocks noGrp="1"/>
          </p:cNvSpPr>
          <p:nvPr>
            <p:ph type="body"/>
          </p:nvPr>
        </p:nvSpPr>
        <p:spPr>
          <a:xfrm>
            <a:off x="609480" y="1520280"/>
            <a:ext cx="10972080" cy="37684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15.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16.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17.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18.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19.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1.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3.png"/><Relationship Id="rId3"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4.png"/><Relationship Id="rId3"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5.png"/><Relationship Id="rId3"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6.png"/><Relationship Id="rId3"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7.png"/><Relationship Id="rId3"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8.png"/><Relationship Id="rId3"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9.png"/><Relationship Id="rId3"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0.png"/><Relationship Id="rId3"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1.png"/><Relationship Id="rId3"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2.png"/><Relationship Id="rId3"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3.png"/><Relationship Id="rId3"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4.png"/><Relationship Id="rId3"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5.png"/><Relationship Id="rId3"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6.png"/><Relationship Id="rId3"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7.png"/><Relationship Id="rId3"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8.png"/><Relationship Id="rId3"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39.png"/><Relationship Id="rId3"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0.png"/><Relationship Id="rId3"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1.png"/><Relationship Id="rId3"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2.png"/><Relationship Id="rId3"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5.png"/><Relationship Id="rId3"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hyperlink" Target="https://www.electronicshub.org/ic-741-op-amp-basics/" TargetMode="External"/><Relationship Id="rId3" Type="http://schemas.openxmlformats.org/officeDocument/2006/relationships/image" Target="../media/image46.png"/><Relationship Id="rId4"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1.png"/><Relationship Id="rId3"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2.png"/><Relationship Id="rId3"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3.png"/><Relationship Id="rId3"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4.png"/><Relationship Id="rId3"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5.png"/><Relationship Id="rId3"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6.png"/><Relationship Id="rId3"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59.png"/><Relationship Id="rId3"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2.pn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 name="" descr=""/>
          <p:cNvPicPr/>
          <p:nvPr/>
        </p:nvPicPr>
        <p:blipFill>
          <a:blip r:embed="rId1"/>
          <a:stretch/>
        </p:blipFill>
        <p:spPr>
          <a:xfrm>
            <a:off x="0" y="0"/>
            <a:ext cx="12191760" cy="6857640"/>
          </a:xfrm>
          <a:prstGeom prst="rect">
            <a:avLst/>
          </a:prstGeom>
          <a:ln w="0">
            <a:noFill/>
          </a:ln>
        </p:spPr>
      </p:pic>
      <p:sp>
        <p:nvSpPr>
          <p:cNvPr id="5" name=""/>
          <p:cNvSpPr/>
          <p:nvPr/>
        </p:nvSpPr>
        <p:spPr>
          <a:xfrm>
            <a:off x="0" y="0"/>
            <a:ext cx="12192120" cy="505080"/>
          </a:xfrm>
          <a:custGeom>
            <a:avLst/>
            <a:gdLst/>
            <a:ahLst/>
            <a:rect l="0" t="0" r="r" b="b"/>
            <a:pathLst>
              <a:path w="33867" h="1403">
                <a:moveTo>
                  <a:pt x="0" y="0"/>
                </a:moveTo>
                <a:lnTo>
                  <a:pt x="33867" y="0"/>
                </a:lnTo>
                <a:lnTo>
                  <a:pt x="33867" y="1403"/>
                </a:lnTo>
                <a:lnTo>
                  <a:pt x="0" y="1403"/>
                </a:lnTo>
                <a:lnTo>
                  <a:pt x="0" y="0"/>
                </a:lnTo>
                <a:close/>
              </a:path>
            </a:pathLst>
          </a:custGeom>
          <a:solidFill>
            <a:srgbClr val="ffffff"/>
          </a:solidFill>
          <a:ln w="0">
            <a:noFill/>
          </a:ln>
        </p:spPr>
        <p:txBody>
          <a:bodyPr lIns="0" rIns="0" tIns="0" bIns="0" anchor="t">
            <a:noAutofit/>
          </a:bodyPr>
          <a:p>
            <a:endParaRPr b="0" lang="en-GB" sz="2400" spc="-1" strike="noStrike">
              <a:solidFill>
                <a:srgbClr val="000000"/>
              </a:solidFill>
              <a:latin typeface="Times New Roman"/>
            </a:endParaRPr>
          </a:p>
        </p:txBody>
      </p:sp>
      <p:sp>
        <p:nvSpPr>
          <p:cNvPr id="6" name=""/>
          <p:cNvSpPr txBox="1"/>
          <p:nvPr/>
        </p:nvSpPr>
        <p:spPr>
          <a:xfrm>
            <a:off x="529920" y="5097960"/>
            <a:ext cx="4207320" cy="512280"/>
          </a:xfrm>
          <a:prstGeom prst="rect">
            <a:avLst/>
          </a:prstGeom>
          <a:noFill/>
          <a:ln w="0">
            <a:noFill/>
          </a:ln>
        </p:spPr>
        <p:txBody>
          <a:bodyPr lIns="0" rIns="0" tIns="0" bIns="0" anchor="t">
            <a:noAutofit/>
          </a:bodyPr>
          <a:p>
            <a:r>
              <a:rPr b="1" lang="en-GB" sz="3609" spc="-1" strike="noStrike">
                <a:solidFill>
                  <a:srgbClr val="8c2930"/>
                </a:solidFill>
                <a:latin typeface="Arial"/>
                <a:ea typeface="Arial"/>
              </a:rPr>
              <a:t>Master’s Degree in </a:t>
            </a:r>
            <a:endParaRPr b="0" lang="en-GB" sz="3609" spc="-1" strike="noStrike">
              <a:solidFill>
                <a:srgbClr val="000000"/>
              </a:solidFill>
              <a:latin typeface="Times New Roman"/>
            </a:endParaRPr>
          </a:p>
        </p:txBody>
      </p:sp>
      <p:sp>
        <p:nvSpPr>
          <p:cNvPr id="7" name=""/>
          <p:cNvSpPr txBox="1"/>
          <p:nvPr/>
        </p:nvSpPr>
        <p:spPr>
          <a:xfrm>
            <a:off x="529920" y="5504400"/>
            <a:ext cx="5225040" cy="646560"/>
          </a:xfrm>
          <a:prstGeom prst="rect">
            <a:avLst/>
          </a:prstGeom>
          <a:noFill/>
          <a:ln w="0">
            <a:noFill/>
          </a:ln>
        </p:spPr>
        <p:txBody>
          <a:bodyPr lIns="0" rIns="0" tIns="0" bIns="0" anchor="t">
            <a:noAutofit/>
          </a:bodyPr>
          <a:p>
            <a:r>
              <a:rPr b="1" lang="en-GB" sz="3609" spc="-1" strike="noStrike">
                <a:solidFill>
                  <a:srgbClr val="8c2930"/>
                </a:solidFill>
                <a:latin typeface="Arial Black"/>
                <a:ea typeface="Arial Black"/>
              </a:rPr>
              <a:t>Health Data Science</a:t>
            </a:r>
            <a:endParaRPr b="0" lang="en-GB" sz="3609" spc="-1" strike="noStrike">
              <a:solidFill>
                <a:srgbClr val="000000"/>
              </a:solidFill>
              <a:latin typeface="Times New Roman"/>
            </a:endParaRPr>
          </a:p>
        </p:txBody>
      </p:sp>
      <p:pic>
        <p:nvPicPr>
          <p:cNvPr id="8" name="" descr=""/>
          <p:cNvPicPr/>
          <p:nvPr/>
        </p:nvPicPr>
        <p:blipFill>
          <a:blip r:embed="rId2"/>
          <a:stretch/>
        </p:blipFill>
        <p:spPr>
          <a:xfrm>
            <a:off x="552600" y="343080"/>
            <a:ext cx="1875960" cy="580680"/>
          </a:xfrm>
          <a:prstGeom prst="rect">
            <a:avLst/>
          </a:prstGeom>
          <a:ln w="0">
            <a:noFill/>
          </a:ln>
        </p:spPr>
      </p:pic>
      <p:sp>
        <p:nvSpPr>
          <p:cNvPr id="9" name=""/>
          <p:cNvSpPr txBox="1"/>
          <p:nvPr/>
        </p:nvSpPr>
        <p:spPr>
          <a:xfrm>
            <a:off x="529920" y="6244560"/>
            <a:ext cx="1018800" cy="265680"/>
          </a:xfrm>
          <a:prstGeom prst="rect">
            <a:avLst/>
          </a:prstGeom>
          <a:noFill/>
          <a:ln w="0">
            <a:noFill/>
          </a:ln>
        </p:spPr>
        <p:txBody>
          <a:bodyPr lIns="0" rIns="0" tIns="0" bIns="0" anchor="t">
            <a:noAutofit/>
          </a:bodyPr>
          <a:p>
            <a:r>
              <a:rPr b="0" lang="en-GB" sz="1870" spc="-1" strike="noStrike">
                <a:solidFill>
                  <a:srgbClr val="8c2930"/>
                </a:solidFill>
                <a:latin typeface="Arial"/>
                <a:ea typeface="Arial"/>
              </a:rPr>
              <a:t>MHEDAS</a:t>
            </a:r>
            <a:endParaRPr b="0" lang="en-GB" sz="1870" spc="-1" strike="noStrike">
              <a:solidFill>
                <a:srgbClr val="000000"/>
              </a:solidFill>
              <a:latin typeface="Times New Roman"/>
            </a:endParaRPr>
          </a:p>
        </p:txBody>
      </p:sp>
      <p:sp>
        <p:nvSpPr>
          <p:cNvPr id="10" name=""/>
          <p:cNvSpPr txBox="1"/>
          <p:nvPr/>
        </p:nvSpPr>
        <p:spPr>
          <a:xfrm>
            <a:off x="530280" y="6244560"/>
            <a:ext cx="6959520" cy="265680"/>
          </a:xfrm>
          <a:prstGeom prst="rect">
            <a:avLst/>
          </a:prstGeom>
          <a:noFill/>
          <a:ln w="0">
            <a:noFill/>
          </a:ln>
        </p:spPr>
        <p:txBody>
          <a:bodyPr lIns="0" rIns="0" tIns="0" bIns="0" anchor="t">
            <a:noAutofit/>
          </a:bodyPr>
          <a:p>
            <a:r>
              <a:rPr b="0" lang="en-GB" sz="1870" spc="-1" strike="noStrike">
                <a:solidFill>
                  <a:srgbClr val="8c2930"/>
                </a:solidFill>
                <a:latin typeface="Arial"/>
                <a:ea typeface="Arial"/>
              </a:rPr>
              <a:t>MHEDA:  : </a:t>
            </a:r>
            <a:r>
              <a:rPr b="0" i="1" lang="en-GB" sz="1870" spc="-1" strike="noStrike">
                <a:solidFill>
                  <a:srgbClr val="8c2930"/>
                </a:solidFill>
                <a:latin typeface="Arial"/>
                <a:ea typeface="Arial"/>
              </a:rPr>
              <a:t>Biomedical sensors and signal processing - 2025/2026</a:t>
            </a:r>
            <a:endParaRPr b="0" lang="en-GB" sz="187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 name="" descr=""/>
          <p:cNvPicPr/>
          <p:nvPr/>
        </p:nvPicPr>
        <p:blipFill>
          <a:blip r:embed="rId1"/>
          <a:stretch/>
        </p:blipFill>
        <p:spPr>
          <a:xfrm>
            <a:off x="0" y="0"/>
            <a:ext cx="12191760" cy="504360"/>
          </a:xfrm>
          <a:prstGeom prst="rect">
            <a:avLst/>
          </a:prstGeom>
          <a:ln w="0">
            <a:noFill/>
          </a:ln>
        </p:spPr>
      </p:pic>
      <p:sp>
        <p:nvSpPr>
          <p:cNvPr id="12" name=""/>
          <p:cNvSpPr txBox="1"/>
          <p:nvPr/>
        </p:nvSpPr>
        <p:spPr>
          <a:xfrm>
            <a:off x="6266880" y="4728960"/>
            <a:ext cx="5620320" cy="512280"/>
          </a:xfrm>
          <a:prstGeom prst="rect">
            <a:avLst/>
          </a:prstGeom>
          <a:noFill/>
          <a:ln w="0">
            <a:noFill/>
          </a:ln>
        </p:spPr>
        <p:txBody>
          <a:bodyPr lIns="0" rIns="0" tIns="0" bIns="0" anchor="t" anchorCtr="1">
            <a:noAutofit/>
          </a:bodyPr>
          <a:p>
            <a:pPr algn="ctr"/>
            <a:r>
              <a:rPr b="1" lang="en-GB" sz="3609" spc="-1" strike="noStrike">
                <a:solidFill>
                  <a:srgbClr val="8c2930"/>
                </a:solidFill>
                <a:latin typeface="Arial"/>
                <a:ea typeface="Arial"/>
              </a:rPr>
              <a:t>Laboratory 1 Report</a:t>
            </a:r>
            <a:endParaRPr b="0" lang="en-GB" sz="3609" spc="-1" strike="noStrike">
              <a:solidFill>
                <a:srgbClr val="000000"/>
              </a:solidFill>
              <a:latin typeface="Times New Roman"/>
            </a:endParaRPr>
          </a:p>
        </p:txBody>
      </p:sp>
      <p:sp>
        <p:nvSpPr>
          <p:cNvPr id="13" name=""/>
          <p:cNvSpPr txBox="1"/>
          <p:nvPr/>
        </p:nvSpPr>
        <p:spPr>
          <a:xfrm>
            <a:off x="7847640" y="5143320"/>
            <a:ext cx="2045880" cy="646560"/>
          </a:xfrm>
          <a:prstGeom prst="rect">
            <a:avLst/>
          </a:prstGeom>
          <a:noFill/>
          <a:ln w="0">
            <a:noFill/>
          </a:ln>
        </p:spPr>
        <p:txBody>
          <a:bodyPr lIns="0" rIns="0" tIns="0" bIns="0" anchor="t">
            <a:noAutofit/>
          </a:bodyPr>
          <a:p>
            <a:r>
              <a:rPr b="1" lang="en-GB" sz="3609" spc="-1" strike="noStrike">
                <a:solidFill>
                  <a:srgbClr val="8c2930"/>
                </a:solidFill>
                <a:latin typeface="Arial Black"/>
                <a:ea typeface="Arial Black"/>
              </a:rPr>
              <a:t>Group E</a:t>
            </a:r>
            <a:endParaRPr b="0" lang="en-GB" sz="3609" spc="-1" strike="noStrike">
              <a:solidFill>
                <a:srgbClr val="000000"/>
              </a:solidFill>
              <a:latin typeface="Times New Roman"/>
            </a:endParaRPr>
          </a:p>
        </p:txBody>
      </p:sp>
      <p:sp>
        <p:nvSpPr>
          <p:cNvPr id="14" name=""/>
          <p:cNvSpPr txBox="1"/>
          <p:nvPr/>
        </p:nvSpPr>
        <p:spPr>
          <a:xfrm>
            <a:off x="6743520" y="5718600"/>
            <a:ext cx="5139720" cy="1061640"/>
          </a:xfrm>
          <a:prstGeom prst="rect">
            <a:avLst/>
          </a:prstGeom>
          <a:noFill/>
          <a:ln w="0">
            <a:noFill/>
          </a:ln>
        </p:spPr>
        <p:txBody>
          <a:bodyPr lIns="0" rIns="0" tIns="0" bIns="0" anchor="t">
            <a:noAutofit/>
          </a:bodyPr>
          <a:p>
            <a:r>
              <a:rPr b="0" i="1" lang="en-GB" sz="1870" spc="-1" strike="noStrike">
                <a:solidFill>
                  <a:srgbClr val="8c2930"/>
                </a:solidFill>
                <a:latin typeface="Arial"/>
                <a:ea typeface="Arial"/>
              </a:rPr>
              <a:t>Authors</a:t>
            </a:r>
            <a:r>
              <a:rPr b="0" lang="en-GB" sz="1870" spc="-1" strike="noStrike">
                <a:solidFill>
                  <a:srgbClr val="8c2930"/>
                </a:solidFill>
                <a:latin typeface="Arial"/>
                <a:ea typeface="Arial"/>
              </a:rPr>
              <a:t>: </a:t>
            </a:r>
            <a:br>
              <a:rPr sz="1870"/>
            </a:br>
            <a:r>
              <a:rPr b="0" lang="en-GB" sz="1870" spc="-1" strike="noStrike">
                <a:solidFill>
                  <a:srgbClr val="8c2930"/>
                </a:solidFill>
                <a:latin typeface="Arial"/>
                <a:ea typeface="Arial"/>
              </a:rPr>
              <a:t>Carmen Aznar Mathonneau; Kamela Xhengo;</a:t>
            </a:r>
            <a:endParaRPr b="0" lang="en-GB" sz="1870" spc="-1" strike="noStrike">
              <a:solidFill>
                <a:srgbClr val="000000"/>
              </a:solidFill>
              <a:latin typeface="Times New Roman"/>
            </a:endParaRPr>
          </a:p>
          <a:p>
            <a:r>
              <a:rPr b="0" lang="en-GB" sz="1870" spc="-1" strike="noStrike">
                <a:solidFill>
                  <a:srgbClr val="8c2930"/>
                </a:solidFill>
                <a:latin typeface="Arial"/>
                <a:ea typeface="Arial"/>
              </a:rPr>
              <a:t>Marco Russo; Yuxi Qiao. </a:t>
            </a:r>
            <a:br>
              <a:rPr sz="1870"/>
            </a:br>
            <a:r>
              <a:rPr b="0" lang="en-GB" sz="1870" spc="-1" strike="noStrike">
                <a:solidFill>
                  <a:srgbClr val="8c2930"/>
                </a:solidFill>
                <a:latin typeface="Arial"/>
                <a:ea typeface="Arial"/>
              </a:rPr>
              <a:t>  </a:t>
            </a:r>
            <a:endParaRPr b="0" lang="en-GB" sz="1870" spc="-1" strike="noStrike">
              <a:solidFill>
                <a:srgbClr val="000000"/>
              </a:solidFill>
              <a:latin typeface="Times New Roman"/>
            </a:endParaRPr>
          </a:p>
        </p:txBody>
      </p:sp>
      <p:grpSp>
        <p:nvGrpSpPr>
          <p:cNvPr id="15" name=""/>
          <p:cNvGrpSpPr/>
          <p:nvPr/>
        </p:nvGrpSpPr>
        <p:grpSpPr>
          <a:xfrm>
            <a:off x="457200" y="905040"/>
            <a:ext cx="4800600" cy="5267160"/>
            <a:chOff x="457200" y="905040"/>
            <a:chExt cx="4800600" cy="5267160"/>
          </a:xfrm>
        </p:grpSpPr>
        <p:pic>
          <p:nvPicPr>
            <p:cNvPr id="16" name="" descr=""/>
            <p:cNvPicPr/>
            <p:nvPr/>
          </p:nvPicPr>
          <p:blipFill>
            <a:blip r:embed="rId2"/>
            <a:stretch/>
          </p:blipFill>
          <p:spPr>
            <a:xfrm>
              <a:off x="457200" y="905040"/>
              <a:ext cx="1875960" cy="580680"/>
            </a:xfrm>
            <a:prstGeom prst="rect">
              <a:avLst/>
            </a:prstGeom>
            <a:ln w="0">
              <a:noFill/>
            </a:ln>
          </p:spPr>
        </p:pic>
        <p:pic>
          <p:nvPicPr>
            <p:cNvPr id="17" name="" descr=""/>
            <p:cNvPicPr/>
            <p:nvPr/>
          </p:nvPicPr>
          <p:blipFill>
            <a:blip r:embed="rId3"/>
            <a:stretch/>
          </p:blipFill>
          <p:spPr>
            <a:xfrm>
              <a:off x="3200400" y="4181760"/>
              <a:ext cx="1257120" cy="847440"/>
            </a:xfrm>
            <a:prstGeom prst="rect">
              <a:avLst/>
            </a:prstGeom>
            <a:ln w="0">
              <a:noFill/>
            </a:ln>
          </p:spPr>
        </p:pic>
        <p:pic>
          <p:nvPicPr>
            <p:cNvPr id="18" name="" descr=""/>
            <p:cNvPicPr/>
            <p:nvPr/>
          </p:nvPicPr>
          <p:blipFill>
            <a:blip r:embed="rId4"/>
            <a:stretch/>
          </p:blipFill>
          <p:spPr>
            <a:xfrm>
              <a:off x="3286440" y="2057400"/>
              <a:ext cx="1171080" cy="723600"/>
            </a:xfrm>
            <a:prstGeom prst="rect">
              <a:avLst/>
            </a:prstGeom>
            <a:ln w="0">
              <a:noFill/>
            </a:ln>
          </p:spPr>
        </p:pic>
        <p:pic>
          <p:nvPicPr>
            <p:cNvPr id="19" name="" descr=""/>
            <p:cNvPicPr/>
            <p:nvPr/>
          </p:nvPicPr>
          <p:blipFill>
            <a:blip r:embed="rId5"/>
            <a:stretch/>
          </p:blipFill>
          <p:spPr>
            <a:xfrm>
              <a:off x="3181680" y="3200400"/>
              <a:ext cx="2076120" cy="637920"/>
            </a:xfrm>
            <a:prstGeom prst="rect">
              <a:avLst/>
            </a:prstGeom>
            <a:ln w="0">
              <a:noFill/>
            </a:ln>
          </p:spPr>
        </p:pic>
        <p:pic>
          <p:nvPicPr>
            <p:cNvPr id="20" name="" descr=""/>
            <p:cNvPicPr/>
            <p:nvPr/>
          </p:nvPicPr>
          <p:blipFill>
            <a:blip r:embed="rId6"/>
            <a:stretch/>
          </p:blipFill>
          <p:spPr>
            <a:xfrm>
              <a:off x="457200" y="4343400"/>
              <a:ext cx="1790280" cy="666360"/>
            </a:xfrm>
            <a:prstGeom prst="rect">
              <a:avLst/>
            </a:prstGeom>
            <a:ln w="0">
              <a:noFill/>
            </a:ln>
          </p:spPr>
        </p:pic>
        <p:pic>
          <p:nvPicPr>
            <p:cNvPr id="21" name="" descr=""/>
            <p:cNvPicPr/>
            <p:nvPr/>
          </p:nvPicPr>
          <p:blipFill>
            <a:blip r:embed="rId7"/>
            <a:stretch/>
          </p:blipFill>
          <p:spPr>
            <a:xfrm>
              <a:off x="3238920" y="5486400"/>
              <a:ext cx="1561680" cy="676080"/>
            </a:xfrm>
            <a:prstGeom prst="rect">
              <a:avLst/>
            </a:prstGeom>
            <a:ln w="0">
              <a:noFill/>
            </a:ln>
          </p:spPr>
        </p:pic>
        <p:pic>
          <p:nvPicPr>
            <p:cNvPr id="22" name="" descr=""/>
            <p:cNvPicPr/>
            <p:nvPr/>
          </p:nvPicPr>
          <p:blipFill>
            <a:blip r:embed="rId8"/>
            <a:stretch/>
          </p:blipFill>
          <p:spPr>
            <a:xfrm>
              <a:off x="457200" y="5439240"/>
              <a:ext cx="1933200" cy="732960"/>
            </a:xfrm>
            <a:prstGeom prst="rect">
              <a:avLst/>
            </a:prstGeom>
            <a:ln w="0">
              <a:noFill/>
            </a:ln>
          </p:spPr>
        </p:pic>
        <p:pic>
          <p:nvPicPr>
            <p:cNvPr id="23" name="" descr=""/>
            <p:cNvPicPr/>
            <p:nvPr/>
          </p:nvPicPr>
          <p:blipFill>
            <a:blip r:embed="rId9"/>
            <a:stretch/>
          </p:blipFill>
          <p:spPr>
            <a:xfrm>
              <a:off x="486000" y="1866960"/>
              <a:ext cx="999720" cy="990360"/>
            </a:xfrm>
            <a:prstGeom prst="rect">
              <a:avLst/>
            </a:prstGeom>
            <a:ln w="0">
              <a:noFill/>
            </a:ln>
          </p:spPr>
        </p:pic>
        <p:pic>
          <p:nvPicPr>
            <p:cNvPr id="24" name="" descr=""/>
            <p:cNvPicPr/>
            <p:nvPr/>
          </p:nvPicPr>
          <p:blipFill>
            <a:blip r:embed="rId10"/>
            <a:stretch/>
          </p:blipFill>
          <p:spPr>
            <a:xfrm>
              <a:off x="457200" y="3200400"/>
              <a:ext cx="2352240" cy="637920"/>
            </a:xfrm>
            <a:prstGeom prst="rect">
              <a:avLst/>
            </a:prstGeom>
            <a:ln w="0">
              <a:noFill/>
            </a:ln>
          </p:spPr>
        </p:pic>
      </p:grpSp>
      <p:grpSp>
        <p:nvGrpSpPr>
          <p:cNvPr id="25" name=""/>
          <p:cNvGrpSpPr/>
          <p:nvPr/>
        </p:nvGrpSpPr>
        <p:grpSpPr>
          <a:xfrm>
            <a:off x="7200720" y="895320"/>
            <a:ext cx="4133520" cy="1504800"/>
            <a:chOff x="7200720" y="895320"/>
            <a:chExt cx="4133520" cy="1504800"/>
          </a:xfrm>
        </p:grpSpPr>
        <p:pic>
          <p:nvPicPr>
            <p:cNvPr id="26" name="" descr=""/>
            <p:cNvPicPr/>
            <p:nvPr/>
          </p:nvPicPr>
          <p:blipFill>
            <a:blip r:embed="rId11"/>
            <a:stretch/>
          </p:blipFill>
          <p:spPr>
            <a:xfrm>
              <a:off x="7200720" y="895320"/>
              <a:ext cx="4133520" cy="676080"/>
            </a:xfrm>
            <a:prstGeom prst="rect">
              <a:avLst/>
            </a:prstGeom>
            <a:ln w="0">
              <a:noFill/>
            </a:ln>
          </p:spPr>
        </p:pic>
        <p:pic>
          <p:nvPicPr>
            <p:cNvPr id="27" name="" descr=""/>
            <p:cNvPicPr/>
            <p:nvPr/>
          </p:nvPicPr>
          <p:blipFill>
            <a:blip r:embed="rId12"/>
            <a:stretch/>
          </p:blipFill>
          <p:spPr>
            <a:xfrm>
              <a:off x="7210440" y="1695600"/>
              <a:ext cx="2409480" cy="704520"/>
            </a:xfrm>
            <a:prstGeom prst="rect">
              <a:avLst/>
            </a:prstGeom>
            <a:ln w="0">
              <a:noFill/>
            </a:ln>
          </p:spPr>
        </p:pic>
        <p:pic>
          <p:nvPicPr>
            <p:cNvPr id="28" name="" descr=""/>
            <p:cNvPicPr/>
            <p:nvPr/>
          </p:nvPicPr>
          <p:blipFill>
            <a:blip r:embed="rId13"/>
            <a:stretch/>
          </p:blipFill>
          <p:spPr>
            <a:xfrm>
              <a:off x="9848520" y="1924200"/>
              <a:ext cx="1456920" cy="352080"/>
            </a:xfrm>
            <a:prstGeom prst="rect">
              <a:avLst/>
            </a:prstGeom>
            <a:ln w="0">
              <a:noFill/>
            </a:ln>
          </p:spPr>
        </p:pic>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 name="" descr=""/>
          <p:cNvPicPr/>
          <p:nvPr/>
        </p:nvPicPr>
        <p:blipFill>
          <a:blip r:embed="rId1"/>
          <a:stretch/>
        </p:blipFill>
        <p:spPr>
          <a:xfrm>
            <a:off x="0" y="0"/>
            <a:ext cx="12191760" cy="504360"/>
          </a:xfrm>
          <a:prstGeom prst="rect">
            <a:avLst/>
          </a:prstGeom>
          <a:ln w="0">
            <a:noFill/>
          </a:ln>
        </p:spPr>
      </p:pic>
      <p:sp>
        <p:nvSpPr>
          <p:cNvPr id="30"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31" name=""/>
          <p:cNvSpPr txBox="1"/>
          <p:nvPr/>
        </p:nvSpPr>
        <p:spPr>
          <a:xfrm>
            <a:off x="456120" y="1635120"/>
            <a:ext cx="655380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Task 1 – Schematics of a mixed signal circuit.</a:t>
            </a:r>
            <a:endParaRPr b="0" lang="en-GB" sz="2400" spc="-1" strike="noStrike">
              <a:solidFill>
                <a:srgbClr val="000000"/>
              </a:solidFill>
              <a:latin typeface="Times New Roman"/>
            </a:endParaRPr>
          </a:p>
        </p:txBody>
      </p:sp>
      <p:sp>
        <p:nvSpPr>
          <p:cNvPr id="32" name=""/>
          <p:cNvSpPr txBox="1"/>
          <p:nvPr/>
        </p:nvSpPr>
        <p:spPr>
          <a:xfrm>
            <a:off x="456120" y="2131200"/>
            <a:ext cx="606312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Task 2 – Programming the Arduino board.</a:t>
            </a:r>
            <a:endParaRPr b="0" lang="en-GB" sz="2400" spc="-1" strike="noStrike">
              <a:solidFill>
                <a:srgbClr val="000000"/>
              </a:solidFill>
              <a:latin typeface="Times New Roman"/>
            </a:endParaRPr>
          </a:p>
        </p:txBody>
      </p:sp>
      <p:sp>
        <p:nvSpPr>
          <p:cNvPr id="33" name=""/>
          <p:cNvSpPr txBox="1"/>
          <p:nvPr/>
        </p:nvSpPr>
        <p:spPr>
          <a:xfrm>
            <a:off x="456120" y="2626920"/>
            <a:ext cx="546984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Task 3 – Introducing the LCD display.</a:t>
            </a:r>
            <a:endParaRPr b="0" lang="en-GB" sz="2400" spc="-1" strike="noStrike">
              <a:solidFill>
                <a:srgbClr val="000000"/>
              </a:solidFill>
              <a:latin typeface="Times New Roman"/>
            </a:endParaRPr>
          </a:p>
        </p:txBody>
      </p:sp>
      <p:sp>
        <p:nvSpPr>
          <p:cNvPr id="34" name=""/>
          <p:cNvSpPr txBox="1"/>
          <p:nvPr/>
        </p:nvSpPr>
        <p:spPr>
          <a:xfrm>
            <a:off x="456120" y="3113640"/>
            <a:ext cx="430056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Task 4 – Conditioning circuit.</a:t>
            </a:r>
            <a:endParaRPr b="0" lang="en-GB" sz="2400" spc="-1" strike="noStrike">
              <a:solidFill>
                <a:srgbClr val="000000"/>
              </a:solidFill>
              <a:latin typeface="Times New Roman"/>
            </a:endParaRPr>
          </a:p>
        </p:txBody>
      </p:sp>
      <p:sp>
        <p:nvSpPr>
          <p:cNvPr id="35" name=""/>
          <p:cNvSpPr txBox="1"/>
          <p:nvPr/>
        </p:nvSpPr>
        <p:spPr>
          <a:xfrm>
            <a:off x="9829800" y="6520680"/>
            <a:ext cx="2338920" cy="337320"/>
          </a:xfrm>
          <a:prstGeom prst="rect">
            <a:avLst/>
          </a:prstGeom>
          <a:noFill/>
          <a:ln w="0">
            <a:noFill/>
          </a:ln>
        </p:spPr>
        <p:txBody>
          <a:bodyPr lIns="0" rIns="0" tIns="0" bIns="0" anchor="t">
            <a:noAutofit/>
          </a:bodyPr>
          <a:p>
            <a:pPr algn="ctr"/>
            <a:fld id="{B8EE47EF-7640-40C4-9BBE-3D4B2ABB06D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6" name=""/>
          <p:cNvSpPr txBox="1"/>
          <p:nvPr/>
        </p:nvSpPr>
        <p:spPr>
          <a:xfrm>
            <a:off x="457200" y="3582000"/>
            <a:ext cx="274248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 descr=""/>
          <p:cNvPicPr/>
          <p:nvPr/>
        </p:nvPicPr>
        <p:blipFill>
          <a:blip r:embed="rId1"/>
          <a:stretch/>
        </p:blipFill>
        <p:spPr>
          <a:xfrm>
            <a:off x="0" y="0"/>
            <a:ext cx="12191760" cy="504360"/>
          </a:xfrm>
          <a:prstGeom prst="rect">
            <a:avLst/>
          </a:prstGeom>
          <a:ln w="0">
            <a:noFill/>
          </a:ln>
        </p:spPr>
      </p:pic>
      <p:sp>
        <p:nvSpPr>
          <p:cNvPr id="38"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39" name=""/>
          <p:cNvSpPr txBox="1"/>
          <p:nvPr/>
        </p:nvSpPr>
        <p:spPr>
          <a:xfrm>
            <a:off x="456120" y="1635120"/>
            <a:ext cx="8802000" cy="68004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1" lang="en-GB" sz="2400" spc="-1" strike="noStrike">
                <a:solidFill>
                  <a:srgbClr val="000000"/>
                </a:solidFill>
                <a:latin typeface="Arial"/>
                <a:ea typeface="Arial"/>
              </a:rPr>
              <a:t>Task 1 – Schematics of a mixed signal circuit.</a:t>
            </a:r>
            <a:endParaRPr b="0" lang="en-GB" sz="2400" spc="-1" strike="noStrike">
              <a:solidFill>
                <a:srgbClr val="000000"/>
              </a:solidFill>
              <a:latin typeface="Times New Roman"/>
            </a:endParaRPr>
          </a:p>
        </p:txBody>
      </p:sp>
      <p:sp>
        <p:nvSpPr>
          <p:cNvPr id="40" name=""/>
          <p:cNvSpPr txBox="1"/>
          <p:nvPr/>
        </p:nvSpPr>
        <p:spPr>
          <a:xfrm>
            <a:off x="456120" y="2131200"/>
            <a:ext cx="606312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2 – Programming the Arduino board.</a:t>
            </a:r>
            <a:endParaRPr b="0" lang="en-GB" sz="2400" spc="-1" strike="noStrike">
              <a:solidFill>
                <a:srgbClr val="000000"/>
              </a:solidFill>
              <a:latin typeface="Times New Roman"/>
            </a:endParaRPr>
          </a:p>
        </p:txBody>
      </p:sp>
      <p:sp>
        <p:nvSpPr>
          <p:cNvPr id="41" name=""/>
          <p:cNvSpPr txBox="1"/>
          <p:nvPr/>
        </p:nvSpPr>
        <p:spPr>
          <a:xfrm>
            <a:off x="456120" y="2626920"/>
            <a:ext cx="546984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3 – Introducing the LCD display.</a:t>
            </a:r>
            <a:endParaRPr b="0" lang="en-GB" sz="2400" spc="-1" strike="noStrike">
              <a:solidFill>
                <a:srgbClr val="000000"/>
              </a:solidFill>
              <a:latin typeface="Times New Roman"/>
            </a:endParaRPr>
          </a:p>
        </p:txBody>
      </p:sp>
      <p:sp>
        <p:nvSpPr>
          <p:cNvPr id="42" name=""/>
          <p:cNvSpPr txBox="1"/>
          <p:nvPr/>
        </p:nvSpPr>
        <p:spPr>
          <a:xfrm>
            <a:off x="456120" y="3113640"/>
            <a:ext cx="430056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4 – Conditioning circuit.</a:t>
            </a:r>
            <a:endParaRPr b="0" lang="en-GB" sz="2400" spc="-1" strike="noStrike">
              <a:solidFill>
                <a:srgbClr val="000000"/>
              </a:solidFill>
              <a:latin typeface="Times New Roman"/>
            </a:endParaRPr>
          </a:p>
        </p:txBody>
      </p:sp>
      <p:sp>
        <p:nvSpPr>
          <p:cNvPr id="43" name=""/>
          <p:cNvSpPr txBox="1"/>
          <p:nvPr/>
        </p:nvSpPr>
        <p:spPr>
          <a:xfrm>
            <a:off x="9829800" y="6520680"/>
            <a:ext cx="2338920" cy="337320"/>
          </a:xfrm>
          <a:prstGeom prst="rect">
            <a:avLst/>
          </a:prstGeom>
          <a:noFill/>
          <a:ln w="0">
            <a:noFill/>
          </a:ln>
        </p:spPr>
        <p:txBody>
          <a:bodyPr lIns="0" rIns="0" tIns="0" bIns="0" anchor="t">
            <a:noAutofit/>
          </a:bodyPr>
          <a:p>
            <a:pPr algn="ctr"/>
            <a:fld id="{2F008DC4-0599-42C8-A8C7-497A2C1B4A7C}"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44" name=""/>
          <p:cNvSpPr txBox="1"/>
          <p:nvPr/>
        </p:nvSpPr>
        <p:spPr>
          <a:xfrm>
            <a:off x="457200" y="3582000"/>
            <a:ext cx="274248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 descr=""/>
          <p:cNvPicPr/>
          <p:nvPr/>
        </p:nvPicPr>
        <p:blipFill>
          <a:blip r:embed="rId1"/>
          <a:stretch/>
        </p:blipFill>
        <p:spPr>
          <a:xfrm>
            <a:off x="0" y="0"/>
            <a:ext cx="12191760" cy="504360"/>
          </a:xfrm>
          <a:prstGeom prst="rect">
            <a:avLst/>
          </a:prstGeom>
          <a:ln w="0">
            <a:noFill/>
          </a:ln>
        </p:spPr>
      </p:pic>
      <p:sp>
        <p:nvSpPr>
          <p:cNvPr id="46" name=""/>
          <p:cNvSpPr txBox="1"/>
          <p:nvPr/>
        </p:nvSpPr>
        <p:spPr>
          <a:xfrm>
            <a:off x="364680" y="697320"/>
            <a:ext cx="326988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Lab1: Task 1</a:t>
            </a:r>
            <a:endParaRPr b="0" lang="en-GB" sz="3609" spc="-1" strike="noStrike">
              <a:solidFill>
                <a:srgbClr val="000000"/>
              </a:solidFill>
              <a:latin typeface="Times New Roman"/>
            </a:endParaRPr>
          </a:p>
        </p:txBody>
      </p:sp>
      <p:sp>
        <p:nvSpPr>
          <p:cNvPr id="47" name=""/>
          <p:cNvSpPr txBox="1"/>
          <p:nvPr/>
        </p:nvSpPr>
        <p:spPr>
          <a:xfrm>
            <a:off x="10287000" y="6520680"/>
            <a:ext cx="1904760" cy="337320"/>
          </a:xfrm>
          <a:prstGeom prst="rect">
            <a:avLst/>
          </a:prstGeom>
          <a:noFill/>
          <a:ln w="0">
            <a:noFill/>
          </a:ln>
        </p:spPr>
        <p:txBody>
          <a:bodyPr lIns="0" rIns="0" tIns="0" bIns="0" anchor="t">
            <a:noAutofit/>
          </a:bodyPr>
          <a:p>
            <a:pPr algn="ctr"/>
            <a:fld id="{47C99816-1909-4646-AE58-83E5837744BB}"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pic>
        <p:nvPicPr>
          <p:cNvPr id="48" name="" descr=""/>
          <p:cNvPicPr/>
          <p:nvPr/>
        </p:nvPicPr>
        <p:blipFill>
          <a:blip r:embed="rId2"/>
          <a:stretch/>
        </p:blipFill>
        <p:spPr>
          <a:xfrm>
            <a:off x="2001240" y="2045880"/>
            <a:ext cx="8229600" cy="2781000"/>
          </a:xfrm>
          <a:prstGeom prst="rect">
            <a:avLst/>
          </a:prstGeom>
          <a:ln w="0">
            <a:noFill/>
          </a:ln>
        </p:spPr>
      </p:pic>
      <p:sp>
        <p:nvSpPr>
          <p:cNvPr id="49" name=""/>
          <p:cNvSpPr/>
          <p:nvPr/>
        </p:nvSpPr>
        <p:spPr>
          <a:xfrm>
            <a:off x="1942920" y="3699720"/>
            <a:ext cx="8229600" cy="342720"/>
          </a:xfrm>
          <a:prstGeom prst="rect">
            <a:avLst/>
          </a:prstGeom>
          <a:noFill/>
          <a:ln w="29160">
            <a:solidFill>
              <a:srgbClr val="f10d0c"/>
            </a:solidFill>
            <a:round/>
          </a:ln>
        </p:spPr>
        <p:style>
          <a:lnRef idx="0"/>
          <a:fillRef idx="0"/>
          <a:effectRef idx="0"/>
          <a:fontRef idx="minor"/>
        </p:style>
        <p:txBody>
          <a:bodyPr wrap="none" lIns="14400" rIns="14400" tIns="14400" bIns="14400" anchor="ctr">
            <a:noAutofit/>
          </a:bodyPr>
          <a:p>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 descr=""/>
          <p:cNvPicPr/>
          <p:nvPr/>
        </p:nvPicPr>
        <p:blipFill>
          <a:blip r:embed="rId1"/>
          <a:stretch/>
        </p:blipFill>
        <p:spPr>
          <a:xfrm>
            <a:off x="0" y="0"/>
            <a:ext cx="12191760" cy="504360"/>
          </a:xfrm>
          <a:prstGeom prst="rect">
            <a:avLst/>
          </a:prstGeom>
          <a:ln w="0">
            <a:noFill/>
          </a:ln>
        </p:spPr>
      </p:pic>
      <p:sp>
        <p:nvSpPr>
          <p:cNvPr id="5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52" name=""/>
          <p:cNvSpPr txBox="1"/>
          <p:nvPr/>
        </p:nvSpPr>
        <p:spPr>
          <a:xfrm>
            <a:off x="10287000" y="6520680"/>
            <a:ext cx="1904760" cy="337320"/>
          </a:xfrm>
          <a:prstGeom prst="rect">
            <a:avLst/>
          </a:prstGeom>
          <a:noFill/>
          <a:ln w="0">
            <a:noFill/>
          </a:ln>
        </p:spPr>
        <p:txBody>
          <a:bodyPr lIns="0" rIns="0" tIns="0" bIns="0" anchor="t">
            <a:noAutofit/>
          </a:bodyPr>
          <a:p>
            <a:pPr algn="ctr"/>
            <a:fld id="{0D32AE81-A42D-4FBE-B3F2-1A2601F98F9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pic>
        <p:nvPicPr>
          <p:cNvPr id="53" name="" descr=""/>
          <p:cNvPicPr/>
          <p:nvPr/>
        </p:nvPicPr>
        <p:blipFill>
          <a:blip r:embed="rId2"/>
          <a:stretch/>
        </p:blipFill>
        <p:spPr>
          <a:xfrm>
            <a:off x="342720" y="1600200"/>
            <a:ext cx="5923080" cy="4282560"/>
          </a:xfrm>
          <a:prstGeom prst="rect">
            <a:avLst/>
          </a:prstGeom>
          <a:ln w="0">
            <a:noFill/>
          </a:ln>
        </p:spPr>
      </p:pic>
      <p:sp>
        <p:nvSpPr>
          <p:cNvPr id="54" name=""/>
          <p:cNvSpPr txBox="1"/>
          <p:nvPr/>
        </p:nvSpPr>
        <p:spPr>
          <a:xfrm>
            <a:off x="6629400" y="1605600"/>
            <a:ext cx="5371920" cy="422352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first task we introduce a simple circuit design with following components:</a:t>
            </a:r>
            <a:br>
              <a:rPr sz="1800"/>
            </a:br>
            <a:endParaRPr b="0" lang="en-GB" sz="1800" spc="-1" strike="noStrike">
              <a:solidFill>
                <a:srgbClr val="000000"/>
              </a:solidFill>
              <a:latin typeface="Times New Roman"/>
            </a:endParaRPr>
          </a:p>
          <a:p>
            <a:r>
              <a:rPr b="0" lang="en-GB" sz="1800" spc="-1" strike="noStrike">
                <a:solidFill>
                  <a:srgbClr val="000000"/>
                </a:solidFill>
                <a:latin typeface="Times New Roman"/>
              </a:rPr>
              <a:t>- 1x Arduino Uno board</a:t>
            </a:r>
            <a:endParaRPr b="0" lang="en-GB" sz="1800" spc="-1" strike="noStrike">
              <a:solidFill>
                <a:srgbClr val="000000"/>
              </a:solidFill>
              <a:latin typeface="Times New Roman"/>
            </a:endParaRPr>
          </a:p>
          <a:p>
            <a:r>
              <a:rPr b="0" lang="en-GB" sz="1800" spc="-1" strike="noStrike">
                <a:solidFill>
                  <a:srgbClr val="000000"/>
                </a:solidFill>
                <a:latin typeface="Times New Roman"/>
              </a:rPr>
              <a:t>- 1x Breadboard small</a:t>
            </a:r>
            <a:endParaRPr b="0" lang="en-GB" sz="1800" spc="-1" strike="noStrike">
              <a:solidFill>
                <a:srgbClr val="000000"/>
              </a:solidFill>
              <a:latin typeface="Times New Roman"/>
            </a:endParaRPr>
          </a:p>
          <a:p>
            <a:r>
              <a:rPr b="0" lang="en-GB" sz="1800" spc="-1" strike="noStrike">
                <a:solidFill>
                  <a:srgbClr val="000000"/>
                </a:solidFill>
                <a:latin typeface="Times New Roman"/>
              </a:rPr>
              <a:t>- 1x Temperature sensors TMP36</a:t>
            </a:r>
            <a:endParaRPr b="0" lang="en-GB" sz="1800" spc="-1" strike="noStrike">
              <a:solidFill>
                <a:srgbClr val="000000"/>
              </a:solidFill>
              <a:latin typeface="Times New Roman"/>
            </a:endParaRPr>
          </a:p>
          <a:p>
            <a:r>
              <a:rPr b="0" lang="en-GB" sz="1800" spc="-1" strike="noStrike">
                <a:solidFill>
                  <a:srgbClr val="000000"/>
                </a:solidFill>
                <a:latin typeface="Times New Roman"/>
              </a:rPr>
              <a:t>- 2x Multimeters</a:t>
            </a:r>
            <a:br>
              <a:rPr sz="1800"/>
            </a:br>
            <a:endParaRPr b="0" lang="en-GB" sz="1800" spc="-1" strike="noStrike">
              <a:solidFill>
                <a:srgbClr val="000000"/>
              </a:solidFill>
              <a:latin typeface="Times New Roman"/>
            </a:endParaRPr>
          </a:p>
          <a:p>
            <a:r>
              <a:rPr b="0" lang="en-GB" sz="1800" spc="-1" strike="noStrike">
                <a:solidFill>
                  <a:srgbClr val="000000"/>
                </a:solidFill>
                <a:latin typeface="Times New Roman"/>
              </a:rPr>
              <a:t>The temperature sensor using breadboard. The first voltmeter show the input voltage, 5V. The second one, is off, because the analog signal is simulated and not wired as well.</a:t>
            </a:r>
            <a:endParaRPr b="0" lang="en-GB"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 descr=""/>
          <p:cNvPicPr/>
          <p:nvPr/>
        </p:nvPicPr>
        <p:blipFill>
          <a:blip r:embed="rId1"/>
          <a:stretch/>
        </p:blipFill>
        <p:spPr>
          <a:xfrm>
            <a:off x="0" y="0"/>
            <a:ext cx="12191760" cy="504360"/>
          </a:xfrm>
          <a:prstGeom prst="rect">
            <a:avLst/>
          </a:prstGeom>
          <a:ln w="0">
            <a:noFill/>
          </a:ln>
        </p:spPr>
      </p:pic>
      <p:sp>
        <p:nvSpPr>
          <p:cNvPr id="56"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57" name=""/>
          <p:cNvSpPr txBox="1"/>
          <p:nvPr/>
        </p:nvSpPr>
        <p:spPr>
          <a:xfrm>
            <a:off x="10287000" y="6520680"/>
            <a:ext cx="1904760" cy="337320"/>
          </a:xfrm>
          <a:prstGeom prst="rect">
            <a:avLst/>
          </a:prstGeom>
          <a:noFill/>
          <a:ln w="0">
            <a:noFill/>
          </a:ln>
        </p:spPr>
        <p:txBody>
          <a:bodyPr lIns="0" rIns="0" tIns="0" bIns="0" anchor="t">
            <a:noAutofit/>
          </a:bodyPr>
          <a:p>
            <a:pPr algn="ctr"/>
            <a:fld id="{2B3F8B64-1309-46A6-935C-38BED0AA1B98}"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58" name=""/>
          <p:cNvSpPr txBox="1"/>
          <p:nvPr/>
        </p:nvSpPr>
        <p:spPr>
          <a:xfrm>
            <a:off x="6743520" y="1600200"/>
            <a:ext cx="5371920" cy="4223520"/>
          </a:xfrm>
          <a:prstGeom prst="rect">
            <a:avLst/>
          </a:prstGeom>
          <a:noFill/>
          <a:ln w="0">
            <a:noFill/>
          </a:ln>
        </p:spPr>
        <p:txBody>
          <a:bodyPr lIns="0" rIns="0" tIns="0" bIns="0" anchor="t">
            <a:noAutofit/>
          </a:bodyPr>
          <a:p>
            <a:endParaRPr b="0" lang="en-GB" sz="2000" spc="-1" strike="noStrike">
              <a:solidFill>
                <a:srgbClr val="000000"/>
              </a:solidFill>
              <a:latin typeface="Times New Roman"/>
            </a:endParaRPr>
          </a:p>
          <a:p>
            <a:r>
              <a:rPr b="0" lang="en-GB" sz="1800" spc="-1" strike="noStrike">
                <a:solidFill>
                  <a:srgbClr val="000000"/>
                </a:solidFill>
                <a:latin typeface="Times New Roman"/>
              </a:rPr>
              <a:t>In this screenshot we show the temperature sensor set at 25ºC. The input voltmeter show 5V as expected, and Vout shows 0V.</a:t>
            </a:r>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a:p>
            <a:r>
              <a:rPr b="0" lang="en-GB" sz="1800" spc="-1" strike="noStrike">
                <a:solidFill>
                  <a:srgbClr val="000000"/>
                </a:solidFill>
                <a:latin typeface="Times New Roman"/>
              </a:rPr>
              <a:t>In the next task, we are going to connect the voltmeter and the temperature sensors to get the output voltage.</a:t>
            </a:r>
            <a:endParaRPr b="0" lang="en-GB" sz="1800" spc="-1" strike="noStrike">
              <a:solidFill>
                <a:srgbClr val="000000"/>
              </a:solidFill>
              <a:latin typeface="Times New Roman"/>
            </a:endParaRPr>
          </a:p>
        </p:txBody>
      </p:sp>
      <p:pic>
        <p:nvPicPr>
          <p:cNvPr id="59" name="" descr=""/>
          <p:cNvPicPr/>
          <p:nvPr/>
        </p:nvPicPr>
        <p:blipFill>
          <a:blip r:embed="rId2"/>
          <a:stretch/>
        </p:blipFill>
        <p:spPr>
          <a:xfrm>
            <a:off x="342720" y="1650240"/>
            <a:ext cx="6126480" cy="33789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 descr=""/>
          <p:cNvPicPr/>
          <p:nvPr/>
        </p:nvPicPr>
        <p:blipFill>
          <a:blip r:embed="rId1"/>
          <a:stretch/>
        </p:blipFill>
        <p:spPr>
          <a:xfrm>
            <a:off x="0" y="0"/>
            <a:ext cx="12191760" cy="504360"/>
          </a:xfrm>
          <a:prstGeom prst="rect">
            <a:avLst/>
          </a:prstGeom>
          <a:ln w="0">
            <a:noFill/>
          </a:ln>
        </p:spPr>
      </p:pic>
      <p:sp>
        <p:nvSpPr>
          <p:cNvPr id="6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62" name=""/>
          <p:cNvSpPr txBox="1"/>
          <p:nvPr/>
        </p:nvSpPr>
        <p:spPr>
          <a:xfrm>
            <a:off x="10287000" y="6520680"/>
            <a:ext cx="1904760" cy="337320"/>
          </a:xfrm>
          <a:prstGeom prst="rect">
            <a:avLst/>
          </a:prstGeom>
          <a:noFill/>
          <a:ln w="0">
            <a:noFill/>
          </a:ln>
        </p:spPr>
        <p:txBody>
          <a:bodyPr lIns="0" rIns="0" tIns="0" bIns="0" anchor="t">
            <a:noAutofit/>
          </a:bodyPr>
          <a:p>
            <a:pPr algn="ctr"/>
            <a:fld id="{F8464F17-BC29-4041-8C41-DF07C927458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63" name=""/>
          <p:cNvSpPr txBox="1"/>
          <p:nvPr/>
        </p:nvSpPr>
        <p:spPr>
          <a:xfrm>
            <a:off x="6743520" y="1828800"/>
            <a:ext cx="5371920" cy="4223520"/>
          </a:xfrm>
          <a:prstGeom prst="rect">
            <a:avLst/>
          </a:prstGeom>
          <a:noFill/>
          <a:ln w="0">
            <a:noFill/>
          </a:ln>
        </p:spPr>
        <p:txBody>
          <a:bodyPr lIns="0" rIns="0" tIns="0" bIns="0" anchor="t">
            <a:noAutofit/>
          </a:bodyPr>
          <a:p>
            <a:r>
              <a:rPr b="0" lang="en-GB" sz="1600" spc="-1" strike="noStrike">
                <a:solidFill>
                  <a:srgbClr val="000000"/>
                </a:solidFill>
                <a:latin typeface="Times New Roman"/>
              </a:rPr>
              <a:t>In this screenshot the temperature sensor for the minimum temperature configured at 0ºC, the Vout shows 500mV.</a:t>
            </a:r>
            <a:endParaRPr b="0" lang="en-GB" sz="1600" spc="-1" strike="noStrike">
              <a:solidFill>
                <a:srgbClr val="000000"/>
              </a:solidFill>
              <a:latin typeface="Times New Roman"/>
            </a:endParaRPr>
          </a:p>
        </p:txBody>
      </p:sp>
      <p:pic>
        <p:nvPicPr>
          <p:cNvPr id="64" name="" descr=""/>
          <p:cNvPicPr/>
          <p:nvPr/>
        </p:nvPicPr>
        <p:blipFill>
          <a:blip r:embed="rId2"/>
          <a:stretch/>
        </p:blipFill>
        <p:spPr>
          <a:xfrm>
            <a:off x="329040" y="1619280"/>
            <a:ext cx="6185880" cy="43358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 descr=""/>
          <p:cNvPicPr/>
          <p:nvPr/>
        </p:nvPicPr>
        <p:blipFill>
          <a:blip r:embed="rId1"/>
          <a:stretch/>
        </p:blipFill>
        <p:spPr>
          <a:xfrm>
            <a:off x="0" y="0"/>
            <a:ext cx="12191760" cy="504360"/>
          </a:xfrm>
          <a:prstGeom prst="rect">
            <a:avLst/>
          </a:prstGeom>
          <a:ln w="0">
            <a:noFill/>
          </a:ln>
        </p:spPr>
      </p:pic>
      <p:sp>
        <p:nvSpPr>
          <p:cNvPr id="66" name=""/>
          <p:cNvSpPr txBox="1"/>
          <p:nvPr/>
        </p:nvSpPr>
        <p:spPr>
          <a:xfrm>
            <a:off x="341280" y="840600"/>
            <a:ext cx="10288440" cy="53100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67" name=""/>
          <p:cNvSpPr txBox="1"/>
          <p:nvPr/>
        </p:nvSpPr>
        <p:spPr>
          <a:xfrm>
            <a:off x="10287000" y="6520680"/>
            <a:ext cx="1904760" cy="337320"/>
          </a:xfrm>
          <a:prstGeom prst="rect">
            <a:avLst/>
          </a:prstGeom>
          <a:noFill/>
          <a:ln w="0">
            <a:noFill/>
          </a:ln>
        </p:spPr>
        <p:txBody>
          <a:bodyPr lIns="0" rIns="0" tIns="0" bIns="0" anchor="t">
            <a:noAutofit/>
          </a:bodyPr>
          <a:p>
            <a:pPr algn="ctr"/>
            <a:fld id="{3DCD9772-F7C6-466F-97E5-ACE4B0B8EB04}"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graphicFrame>
        <p:nvGraphicFramePr>
          <p:cNvPr id="68" name=""/>
          <p:cNvGraphicFramePr/>
          <p:nvPr/>
        </p:nvGraphicFramePr>
        <p:xfrm>
          <a:off x="1543680" y="1962000"/>
          <a:ext cx="8823960" cy="2662920"/>
        </p:xfrm>
        <a:graphic>
          <a:graphicData uri="http://schemas.openxmlformats.org/drawingml/2006/table">
            <a:tbl>
              <a:tblPr/>
              <a:tblGrid>
                <a:gridCol w="3196080"/>
                <a:gridCol w="2032560"/>
                <a:gridCol w="1797840"/>
                <a:gridCol w="1797840"/>
              </a:tblGrid>
              <a:tr h="532440">
                <a:tc>
                  <a:txBody>
                    <a:bodyPr lIns="36000" rIns="36000" tIns="36000" bIns="36000" anchor="t">
                      <a:noAutofit/>
                    </a:bodyPr>
                    <a:p>
                      <a:endParaRPr b="0" lang="en-GB" sz="1800" spc="-1" strike="noStrike">
                        <a:solidFill>
                          <a:srgbClr val="ffffff"/>
                        </a:solidFill>
                        <a:latin typeface="Arial"/>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T (ºC)</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Vin</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Vout</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r>
              <a:tr h="532440">
                <a:tc>
                  <a:txBody>
                    <a:bodyPr lIns="36000" rIns="36000" tIns="36000" bIns="36000" anchor="t">
                      <a:noAutofit/>
                    </a:bodyPr>
                    <a:p>
                      <a:r>
                        <a:rPr b="0" lang="en-GB" sz="2400" spc="-1" strike="noStrike">
                          <a:solidFill>
                            <a:srgbClr val="000000"/>
                          </a:solidFill>
                          <a:latin typeface="Times New Roman"/>
                        </a:rPr>
                        <a:t>Minimum Temp value</a:t>
                      </a:r>
                      <a:endParaRPr b="0" lang="en-GB" sz="2400" spc="-1" strike="noStrike">
                        <a:solidFill>
                          <a:srgbClr val="000000"/>
                        </a:solidFill>
                        <a:latin typeface="Times New Roman"/>
                      </a:endParaRPr>
                    </a:p>
                  </a:txBody>
                  <a:tcPr anchor="t"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2400" spc="-1" strike="noStrike">
                          <a:solidFill>
                            <a:srgbClr val="000000"/>
                          </a:solidFill>
                          <a:latin typeface="Times New Roman"/>
                        </a:rPr>
                        <a:t>0ºC</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2400" spc="-1" strike="noStrike">
                          <a:solidFill>
                            <a:srgbClr val="000000"/>
                          </a:solidFill>
                          <a:latin typeface="Times New Roman"/>
                        </a:rPr>
                        <a:t>5V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2400" spc="-1" strike="noStrike">
                          <a:solidFill>
                            <a:srgbClr val="000000"/>
                          </a:solidFill>
                          <a:latin typeface="Times New Roman"/>
                        </a:rPr>
                        <a:t>0V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r>
              <a:tr h="532440">
                <a:tc>
                  <a:txBody>
                    <a:bodyPr lIns="36000" rIns="36000" tIns="36000" bIns="36000" anchor="t">
                      <a:noAutofit/>
                    </a:bodyPr>
                    <a:p>
                      <a:r>
                        <a:rPr b="0" lang="en-GB" sz="2400" spc="-1" strike="noStrike">
                          <a:solidFill>
                            <a:srgbClr val="000000"/>
                          </a:solidFill>
                          <a:latin typeface="Times New Roman"/>
                        </a:rPr>
                        <a:t>T0</a:t>
                      </a:r>
                      <a:endParaRPr b="0" lang="en-GB" sz="2400" spc="-1" strike="noStrike">
                        <a:solidFill>
                          <a:srgbClr val="000000"/>
                        </a:solidFill>
                        <a:latin typeface="Times New Roman"/>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2400" spc="-1" strike="noStrike">
                          <a:solidFill>
                            <a:srgbClr val="000000"/>
                          </a:solidFill>
                          <a:latin typeface="Times New Roman"/>
                        </a:rPr>
                        <a:t>25ºC</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2400" spc="-1" strike="noStrike">
                          <a:solidFill>
                            <a:srgbClr val="000000"/>
                          </a:solidFill>
                          <a:latin typeface="Times New Roman"/>
                        </a:rPr>
                        <a:t>5V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2400" spc="-1" strike="noStrike">
                          <a:solidFill>
                            <a:srgbClr val="000000"/>
                          </a:solidFill>
                          <a:latin typeface="Times New Roman"/>
                        </a:rPr>
                        <a:t>0V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532440">
                <a:tc>
                  <a:txBody>
                    <a:bodyPr lIns="36000" rIns="36000" tIns="36000" bIns="36000" anchor="t">
                      <a:noAutofit/>
                    </a:bodyPr>
                    <a:p>
                      <a:r>
                        <a:rPr b="0" lang="en-GB" sz="2400" spc="-1" strike="noStrike">
                          <a:solidFill>
                            <a:srgbClr val="000000"/>
                          </a:solidFill>
                          <a:latin typeface="Times New Roman"/>
                        </a:rPr>
                        <a:t>T1</a:t>
                      </a:r>
                      <a:endParaRPr b="0" lang="en-GB" sz="2400" spc="-1" strike="noStrike">
                        <a:solidFill>
                          <a:srgbClr val="000000"/>
                        </a:solidFill>
                        <a:latin typeface="Times New Roman"/>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2400" spc="-1" strike="noStrike">
                          <a:solidFill>
                            <a:srgbClr val="000000"/>
                          </a:solidFill>
                          <a:latin typeface="Times New Roman"/>
                        </a:rPr>
                        <a:t>25ºC</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Arial"/>
                          <a:ea typeface="PingFang SC"/>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2400" spc="-1" strike="noStrike">
                          <a:solidFill>
                            <a:srgbClr val="000000"/>
                          </a:solidFill>
                          <a:latin typeface="Times New Roman"/>
                        </a:rPr>
                        <a:t>0V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533520">
                <a:tc>
                  <a:txBody>
                    <a:bodyPr lIns="36000" rIns="36000" tIns="36000" bIns="36000" anchor="t">
                      <a:noAutofit/>
                    </a:bodyPr>
                    <a:p>
                      <a:r>
                        <a:rPr b="0" lang="en-GB" sz="2400" spc="-1" strike="noStrike">
                          <a:solidFill>
                            <a:srgbClr val="000000"/>
                          </a:solidFill>
                          <a:latin typeface="Times New Roman"/>
                        </a:rPr>
                        <a:t>Maximum Temp value</a:t>
                      </a:r>
                      <a:endParaRPr b="0" lang="en-GB" sz="2400" spc="-1" strike="noStrike">
                        <a:solidFill>
                          <a:srgbClr val="000000"/>
                        </a:solidFill>
                        <a:latin typeface="Times New Roman"/>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2400" spc="-1" strike="noStrike">
                          <a:solidFill>
                            <a:srgbClr val="000000"/>
                          </a:solidFill>
                          <a:latin typeface="Times New Roman"/>
                        </a:rPr>
                        <a:t>80ºC</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Arial"/>
                          <a:ea typeface="PingFang SC"/>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2400" spc="-1" strike="noStrike">
                          <a:solidFill>
                            <a:srgbClr val="000000"/>
                          </a:solidFill>
                          <a:latin typeface="Times New Roman"/>
                        </a:rPr>
                        <a:t>0V</a:t>
                      </a:r>
                      <a:endParaRPr b="0"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
        <p:nvSpPr>
          <p:cNvPr id="69" name=""/>
          <p:cNvSpPr txBox="1"/>
          <p:nvPr/>
        </p:nvSpPr>
        <p:spPr>
          <a:xfrm>
            <a:off x="993600" y="5143320"/>
            <a:ext cx="10436400" cy="1257480"/>
          </a:xfrm>
          <a:prstGeom prst="rect">
            <a:avLst/>
          </a:prstGeom>
          <a:noFill/>
          <a:ln w="0">
            <a:noFill/>
          </a:ln>
        </p:spPr>
        <p:txBody>
          <a:bodyPr lIns="0" rIns="0" tIns="0" bIns="0" anchor="t">
            <a:noAutofit/>
          </a:bodyPr>
          <a:p>
            <a:r>
              <a:rPr b="1" lang="en-GB" sz="2100" spc="-1" strike="noStrike">
                <a:solidFill>
                  <a:srgbClr val="000000"/>
                </a:solidFill>
                <a:latin typeface="Times New Roman"/>
              </a:rPr>
              <a:t>Table 1.1</a:t>
            </a:r>
            <a:r>
              <a:rPr b="0" lang="en-GB" sz="2100" spc="-1" strike="noStrike">
                <a:solidFill>
                  <a:srgbClr val="000000"/>
                </a:solidFill>
                <a:latin typeface="Times New Roman"/>
              </a:rPr>
              <a:t> - The table shows the values with analog port simulated. That’s mean we show only the input value in the first multimeter. In the second one is </a:t>
            </a:r>
            <a:r>
              <a:rPr b="0" i="1" lang="en-GB" sz="2100" spc="-1" strike="noStrike">
                <a:solidFill>
                  <a:srgbClr val="000000"/>
                </a:solidFill>
                <a:latin typeface="Times New Roman"/>
              </a:rPr>
              <a:t>null</a:t>
            </a:r>
            <a:r>
              <a:rPr b="0" lang="en-GB" sz="2100" spc="-1" strike="noStrike">
                <a:solidFill>
                  <a:srgbClr val="000000"/>
                </a:solidFill>
                <a:latin typeface="Times New Roman"/>
              </a:rPr>
              <a:t> value because we don’t convert the analog value to digital from the temperature sensor.</a:t>
            </a:r>
            <a:endParaRPr b="0" lang="en-GB" sz="21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 name="" descr=""/>
          <p:cNvPicPr/>
          <p:nvPr/>
        </p:nvPicPr>
        <p:blipFill>
          <a:blip r:embed="rId1"/>
          <a:stretch/>
        </p:blipFill>
        <p:spPr>
          <a:xfrm>
            <a:off x="0" y="0"/>
            <a:ext cx="12191760" cy="504360"/>
          </a:xfrm>
          <a:prstGeom prst="rect">
            <a:avLst/>
          </a:prstGeom>
          <a:ln w="0">
            <a:noFill/>
          </a:ln>
        </p:spPr>
      </p:pic>
      <p:sp>
        <p:nvSpPr>
          <p:cNvPr id="7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72" name=""/>
          <p:cNvSpPr txBox="1"/>
          <p:nvPr/>
        </p:nvSpPr>
        <p:spPr>
          <a:xfrm>
            <a:off x="10287000" y="6520680"/>
            <a:ext cx="1904760" cy="337320"/>
          </a:xfrm>
          <a:prstGeom prst="rect">
            <a:avLst/>
          </a:prstGeom>
          <a:noFill/>
          <a:ln w="0">
            <a:noFill/>
          </a:ln>
        </p:spPr>
        <p:txBody>
          <a:bodyPr lIns="0" rIns="0" tIns="0" bIns="0" anchor="t">
            <a:noAutofit/>
          </a:bodyPr>
          <a:p>
            <a:pPr algn="ctr"/>
            <a:fld id="{09647B68-FE78-453A-B5ED-C6BB79939A29}"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73" name=""/>
          <p:cNvSpPr txBox="1"/>
          <p:nvPr/>
        </p:nvSpPr>
        <p:spPr>
          <a:xfrm>
            <a:off x="6743520" y="1600200"/>
            <a:ext cx="5371920" cy="4223520"/>
          </a:xfrm>
          <a:prstGeom prst="rect">
            <a:avLst/>
          </a:prstGeom>
          <a:noFill/>
          <a:ln w="0">
            <a:noFill/>
          </a:ln>
        </p:spPr>
        <p:txBody>
          <a:bodyPr lIns="0" rIns="0" tIns="0" bIns="0" anchor="t">
            <a:noAutofit/>
          </a:bodyPr>
          <a:p>
            <a:endParaRPr b="0" lang="en-GB" sz="2000" spc="-1" strike="noStrike">
              <a:solidFill>
                <a:srgbClr val="000000"/>
              </a:solidFill>
              <a:latin typeface="Times New Roman"/>
            </a:endParaRPr>
          </a:p>
          <a:p>
            <a:r>
              <a:rPr b="0" lang="en-GB" sz="1800" spc="-1" strike="noStrike">
                <a:solidFill>
                  <a:srgbClr val="000000"/>
                </a:solidFill>
                <a:latin typeface="Times New Roman"/>
              </a:rPr>
              <a:t>In this screenshot we see the temperature sensor set at 32ºC. The input voltmeter show 5V as expected, and Vout shows ~829mV.</a:t>
            </a:r>
            <a:endParaRPr b="0" lang="en-GB" sz="1800" spc="-1" strike="noStrike">
              <a:solidFill>
                <a:srgbClr val="000000"/>
              </a:solidFill>
              <a:latin typeface="Times New Roman"/>
            </a:endParaRPr>
          </a:p>
        </p:txBody>
      </p:sp>
      <p:pic>
        <p:nvPicPr>
          <p:cNvPr id="74" name="" descr=""/>
          <p:cNvPicPr/>
          <p:nvPr/>
        </p:nvPicPr>
        <p:blipFill>
          <a:blip r:embed="rId2"/>
          <a:stretch/>
        </p:blipFill>
        <p:spPr>
          <a:xfrm>
            <a:off x="342720" y="1599840"/>
            <a:ext cx="6105240" cy="46864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 descr=""/>
          <p:cNvPicPr/>
          <p:nvPr/>
        </p:nvPicPr>
        <p:blipFill>
          <a:blip r:embed="rId1"/>
          <a:stretch/>
        </p:blipFill>
        <p:spPr>
          <a:xfrm>
            <a:off x="0" y="0"/>
            <a:ext cx="12191760" cy="504360"/>
          </a:xfrm>
          <a:prstGeom prst="rect">
            <a:avLst/>
          </a:prstGeom>
          <a:ln w="0">
            <a:noFill/>
          </a:ln>
        </p:spPr>
      </p:pic>
      <p:sp>
        <p:nvSpPr>
          <p:cNvPr id="76"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77" name=""/>
          <p:cNvSpPr txBox="1"/>
          <p:nvPr/>
        </p:nvSpPr>
        <p:spPr>
          <a:xfrm>
            <a:off x="10287000" y="6520680"/>
            <a:ext cx="1904760" cy="337320"/>
          </a:xfrm>
          <a:prstGeom prst="rect">
            <a:avLst/>
          </a:prstGeom>
          <a:noFill/>
          <a:ln w="0">
            <a:noFill/>
          </a:ln>
        </p:spPr>
        <p:txBody>
          <a:bodyPr lIns="0" rIns="0" tIns="0" bIns="0" anchor="t">
            <a:noAutofit/>
          </a:bodyPr>
          <a:p>
            <a:pPr algn="ctr"/>
            <a:fld id="{06BF44E1-0296-48D4-853F-20DC2020DB4C}"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78" name=""/>
          <p:cNvSpPr txBox="1"/>
          <p:nvPr/>
        </p:nvSpPr>
        <p:spPr>
          <a:xfrm>
            <a:off x="6819840" y="1828800"/>
            <a:ext cx="5371920" cy="42235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the temperature sensor has been configured at 65ºC, and voltmeter out shows the corresponding voltage, 1.15V</a:t>
            </a:r>
            <a:endParaRPr b="0" lang="en-GB" sz="1800" spc="-1" strike="noStrike">
              <a:solidFill>
                <a:srgbClr val="000000"/>
              </a:solidFill>
              <a:latin typeface="Times New Roman"/>
            </a:endParaRPr>
          </a:p>
        </p:txBody>
      </p:sp>
      <p:pic>
        <p:nvPicPr>
          <p:cNvPr id="79" name="" descr=""/>
          <p:cNvPicPr/>
          <p:nvPr/>
        </p:nvPicPr>
        <p:blipFill>
          <a:blip r:embed="rId2"/>
          <a:stretch/>
        </p:blipFill>
        <p:spPr>
          <a:xfrm>
            <a:off x="114120" y="1648800"/>
            <a:ext cx="6577560" cy="45234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0" name="" descr=""/>
          <p:cNvPicPr/>
          <p:nvPr/>
        </p:nvPicPr>
        <p:blipFill>
          <a:blip r:embed="rId1"/>
          <a:stretch/>
        </p:blipFill>
        <p:spPr>
          <a:xfrm>
            <a:off x="0" y="0"/>
            <a:ext cx="12191760" cy="504360"/>
          </a:xfrm>
          <a:prstGeom prst="rect">
            <a:avLst/>
          </a:prstGeom>
          <a:ln w="0">
            <a:noFill/>
          </a:ln>
        </p:spPr>
      </p:pic>
      <p:sp>
        <p:nvSpPr>
          <p:cNvPr id="8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82" name=""/>
          <p:cNvSpPr txBox="1"/>
          <p:nvPr/>
        </p:nvSpPr>
        <p:spPr>
          <a:xfrm>
            <a:off x="10287000" y="6520680"/>
            <a:ext cx="1904760" cy="337320"/>
          </a:xfrm>
          <a:prstGeom prst="rect">
            <a:avLst/>
          </a:prstGeom>
          <a:noFill/>
          <a:ln w="0">
            <a:noFill/>
          </a:ln>
        </p:spPr>
        <p:txBody>
          <a:bodyPr lIns="0" rIns="0" tIns="0" bIns="0" anchor="t">
            <a:noAutofit/>
          </a:bodyPr>
          <a:p>
            <a:pPr algn="ctr"/>
            <a:fld id="{43E3C68D-BD71-4FD4-821E-08197BAC8209}"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83" name=""/>
          <p:cNvSpPr txBox="1"/>
          <p:nvPr/>
        </p:nvSpPr>
        <p:spPr>
          <a:xfrm>
            <a:off x="6819840" y="1828800"/>
            <a:ext cx="5371920" cy="42235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the temperature sensor has been configured at 80ºC, and voltmeter out shows the corresponding voltage, 1.30V</a:t>
            </a:r>
            <a:endParaRPr b="0" lang="en-GB" sz="1800" spc="-1" strike="noStrike">
              <a:solidFill>
                <a:srgbClr val="000000"/>
              </a:solidFill>
              <a:latin typeface="Times New Roman"/>
            </a:endParaRPr>
          </a:p>
        </p:txBody>
      </p:sp>
      <p:pic>
        <p:nvPicPr>
          <p:cNvPr id="84" name="" descr=""/>
          <p:cNvPicPr/>
          <p:nvPr/>
        </p:nvPicPr>
        <p:blipFill>
          <a:blip r:embed="rId2"/>
          <a:stretch/>
        </p:blipFill>
        <p:spPr>
          <a:xfrm>
            <a:off x="342720" y="1643040"/>
            <a:ext cx="5985720" cy="4300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 descr=""/>
          <p:cNvPicPr/>
          <p:nvPr/>
        </p:nvPicPr>
        <p:blipFill>
          <a:blip r:embed="rId1"/>
          <a:stretch/>
        </p:blipFill>
        <p:spPr>
          <a:xfrm>
            <a:off x="0" y="0"/>
            <a:ext cx="12191760" cy="504360"/>
          </a:xfrm>
          <a:prstGeom prst="rect">
            <a:avLst/>
          </a:prstGeom>
          <a:ln w="0">
            <a:noFill/>
          </a:ln>
        </p:spPr>
      </p:pic>
      <p:sp>
        <p:nvSpPr>
          <p:cNvPr id="86" name=""/>
          <p:cNvSpPr txBox="1"/>
          <p:nvPr/>
        </p:nvSpPr>
        <p:spPr>
          <a:xfrm>
            <a:off x="341280" y="840600"/>
            <a:ext cx="10288440" cy="53100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87" name=""/>
          <p:cNvSpPr txBox="1"/>
          <p:nvPr/>
        </p:nvSpPr>
        <p:spPr>
          <a:xfrm>
            <a:off x="10287000" y="6520680"/>
            <a:ext cx="1904760" cy="337320"/>
          </a:xfrm>
          <a:prstGeom prst="rect">
            <a:avLst/>
          </a:prstGeom>
          <a:noFill/>
          <a:ln w="0">
            <a:noFill/>
          </a:ln>
        </p:spPr>
        <p:txBody>
          <a:bodyPr lIns="0" rIns="0" tIns="0" bIns="0" anchor="t">
            <a:noAutofit/>
          </a:bodyPr>
          <a:p>
            <a:pPr algn="ctr"/>
            <a:fld id="{2BE744B5-D240-4241-824E-3D08936AEB8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graphicFrame>
        <p:nvGraphicFramePr>
          <p:cNvPr id="88" name=""/>
          <p:cNvGraphicFramePr/>
          <p:nvPr/>
        </p:nvGraphicFramePr>
        <p:xfrm>
          <a:off x="1526760" y="1959840"/>
          <a:ext cx="8823960" cy="2662920"/>
        </p:xfrm>
        <a:graphic>
          <a:graphicData uri="http://schemas.openxmlformats.org/drawingml/2006/table">
            <a:tbl>
              <a:tblPr/>
              <a:tblGrid>
                <a:gridCol w="3196080"/>
                <a:gridCol w="2032560"/>
                <a:gridCol w="1797840"/>
                <a:gridCol w="1797840"/>
              </a:tblGrid>
              <a:tr h="532440">
                <a:tc>
                  <a:txBody>
                    <a:bodyPr lIns="36000" rIns="36000" tIns="36000" bIns="36000" anchor="t">
                      <a:noAutofit/>
                    </a:bodyPr>
                    <a:p>
                      <a:endParaRPr b="0" lang="en-GB" sz="1800" spc="-1" strike="noStrike">
                        <a:solidFill>
                          <a:srgbClr val="ffffff"/>
                        </a:solidFill>
                        <a:latin typeface="Arial"/>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T (ºC)</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Vin</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Vout</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r>
              <a:tr h="532440">
                <a:tc>
                  <a:txBody>
                    <a:bodyPr lIns="36000" rIns="36000" tIns="36000" bIns="36000" anchor="ctr">
                      <a:noAutofit/>
                    </a:bodyPr>
                    <a:p>
                      <a:r>
                        <a:rPr b="0" lang="en-GB" sz="1800" spc="-1" strike="noStrike">
                          <a:solidFill>
                            <a:srgbClr val="000000"/>
                          </a:solidFill>
                          <a:latin typeface="Times New Roman"/>
                        </a:rPr>
                        <a:t>Minimum Temp value</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500mV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r>
              <a:tr h="532440">
                <a:tc>
                  <a:txBody>
                    <a:bodyPr lIns="36000" rIns="36000" tIns="36000" bIns="36000" anchor="ctr">
                      <a:noAutofit/>
                    </a:bodyPr>
                    <a:p>
                      <a:r>
                        <a:rPr b="0" lang="en-GB" sz="1800" spc="-1" strike="noStrike">
                          <a:solidFill>
                            <a:srgbClr val="000000"/>
                          </a:solidFill>
                          <a:latin typeface="Times New Roman"/>
                        </a:rPr>
                        <a:t>T0</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32ºC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829mV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532440">
                <a:tc>
                  <a:txBody>
                    <a:bodyPr lIns="36000" rIns="36000" tIns="36000" bIns="36000" anchor="ctr">
                      <a:noAutofit/>
                    </a:bodyPr>
                    <a:p>
                      <a:r>
                        <a:rPr b="0" lang="en-GB" sz="1800" spc="-1" strike="noStrike">
                          <a:solidFill>
                            <a:srgbClr val="000000"/>
                          </a:solidFill>
                          <a:latin typeface="Times New Roman"/>
                        </a:rPr>
                        <a:t>T1</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65ºC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Arial"/>
                          <a:ea typeface="PingFang SC"/>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1.15V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533520">
                <a:tc>
                  <a:txBody>
                    <a:bodyPr lIns="36000" rIns="36000" tIns="36000" bIns="36000" anchor="ctr">
                      <a:noAutofit/>
                    </a:bodyPr>
                    <a:p>
                      <a:r>
                        <a:rPr b="0" lang="en-GB" sz="1800" spc="-1" strike="noStrike">
                          <a:solidFill>
                            <a:srgbClr val="000000"/>
                          </a:solidFill>
                          <a:latin typeface="Times New Roman"/>
                        </a:rPr>
                        <a:t>Maximum Temp value</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80ºC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Arial"/>
                          <a:ea typeface="PingFang SC"/>
                        </a:rPr>
                        <a:t>5V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1.3V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
        <p:nvSpPr>
          <p:cNvPr id="89" name=""/>
          <p:cNvSpPr txBox="1"/>
          <p:nvPr/>
        </p:nvSpPr>
        <p:spPr>
          <a:xfrm>
            <a:off x="993600" y="5143320"/>
            <a:ext cx="10436400" cy="1257480"/>
          </a:xfrm>
          <a:prstGeom prst="rect">
            <a:avLst/>
          </a:prstGeom>
          <a:noFill/>
          <a:ln w="0">
            <a:noFill/>
          </a:ln>
        </p:spPr>
        <p:txBody>
          <a:bodyPr lIns="0" rIns="0" tIns="0" bIns="0" anchor="t">
            <a:noAutofit/>
          </a:bodyPr>
          <a:p>
            <a:r>
              <a:rPr b="1" lang="en-GB" sz="2000" spc="-1" strike="noStrike">
                <a:solidFill>
                  <a:srgbClr val="000000"/>
                </a:solidFill>
                <a:latin typeface="Times New Roman"/>
              </a:rPr>
              <a:t>Table 1.4</a:t>
            </a:r>
            <a:r>
              <a:rPr b="0" lang="en-GB" sz="2000" spc="-1" strike="noStrike">
                <a:solidFill>
                  <a:srgbClr val="000000"/>
                </a:solidFill>
                <a:latin typeface="Times New Roman"/>
              </a:rPr>
              <a:t> - The table shows the values with analog port wired. In the first voltmeter always shows the power supply voltage, 5V. In the second one, the values depends of the temperature sensors, which convert the analog value to digital.</a:t>
            </a:r>
            <a:endParaRPr b="0" lang="en-GB" sz="2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0" name="" descr=""/>
          <p:cNvPicPr/>
          <p:nvPr/>
        </p:nvPicPr>
        <p:blipFill>
          <a:blip r:embed="rId1"/>
          <a:stretch/>
        </p:blipFill>
        <p:spPr>
          <a:xfrm>
            <a:off x="0" y="0"/>
            <a:ext cx="12191760" cy="504360"/>
          </a:xfrm>
          <a:prstGeom prst="rect">
            <a:avLst/>
          </a:prstGeom>
          <a:ln w="0">
            <a:noFill/>
          </a:ln>
        </p:spPr>
      </p:pic>
      <p:sp>
        <p:nvSpPr>
          <p:cNvPr id="9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1. Introducing a mixed signal circuit design.</a:t>
            </a:r>
            <a:endParaRPr b="0" lang="en-GB" sz="2200" spc="-1" strike="noStrike">
              <a:solidFill>
                <a:srgbClr val="000000"/>
              </a:solidFill>
              <a:latin typeface="Times New Roman"/>
            </a:endParaRPr>
          </a:p>
        </p:txBody>
      </p:sp>
      <p:sp>
        <p:nvSpPr>
          <p:cNvPr id="92" name=""/>
          <p:cNvSpPr txBox="1"/>
          <p:nvPr/>
        </p:nvSpPr>
        <p:spPr>
          <a:xfrm>
            <a:off x="10287000" y="6520680"/>
            <a:ext cx="1904760" cy="337320"/>
          </a:xfrm>
          <a:prstGeom prst="rect">
            <a:avLst/>
          </a:prstGeom>
          <a:noFill/>
          <a:ln w="0">
            <a:noFill/>
          </a:ln>
        </p:spPr>
        <p:txBody>
          <a:bodyPr lIns="0" rIns="0" tIns="0" bIns="0" anchor="t">
            <a:noAutofit/>
          </a:bodyPr>
          <a:p>
            <a:pPr algn="ctr"/>
            <a:fld id="{4BB1DDD9-CD7E-4125-8FC6-79637A50F490}"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93" name=""/>
          <p:cNvSpPr txBox="1"/>
          <p:nvPr/>
        </p:nvSpPr>
        <p:spPr>
          <a:xfrm>
            <a:off x="6743520" y="1828800"/>
            <a:ext cx="4724280" cy="422352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last screenshot of task 1.4, we will show the schematic view of the circuit.</a:t>
            </a:r>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a:p>
            <a:r>
              <a:rPr b="0" lang="en-GB" sz="1800" spc="-1" strike="noStrike">
                <a:solidFill>
                  <a:srgbClr val="000000"/>
                </a:solidFill>
                <a:latin typeface="Times New Roman"/>
              </a:rPr>
              <a:t>So, me move forward to next step 2. We are going to remove breadboard and connect the temperature sensor by A0 analog port using coding to shows the output results by text.</a:t>
            </a:r>
            <a:endParaRPr b="0" lang="en-GB" sz="1800" spc="-1" strike="noStrike">
              <a:solidFill>
                <a:srgbClr val="000000"/>
              </a:solidFill>
              <a:latin typeface="Times New Roman"/>
            </a:endParaRPr>
          </a:p>
        </p:txBody>
      </p:sp>
      <p:pic>
        <p:nvPicPr>
          <p:cNvPr id="94" name="" descr=""/>
          <p:cNvPicPr/>
          <p:nvPr/>
        </p:nvPicPr>
        <p:blipFill>
          <a:blip r:embed="rId2"/>
          <a:stretch/>
        </p:blipFill>
        <p:spPr>
          <a:xfrm>
            <a:off x="457200" y="1600200"/>
            <a:ext cx="6064920" cy="4631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5" name="" descr=""/>
          <p:cNvPicPr/>
          <p:nvPr/>
        </p:nvPicPr>
        <p:blipFill>
          <a:blip r:embed="rId1"/>
          <a:stretch/>
        </p:blipFill>
        <p:spPr>
          <a:xfrm>
            <a:off x="0" y="0"/>
            <a:ext cx="12191760" cy="504360"/>
          </a:xfrm>
          <a:prstGeom prst="rect">
            <a:avLst/>
          </a:prstGeom>
          <a:ln w="0">
            <a:noFill/>
          </a:ln>
        </p:spPr>
      </p:pic>
      <p:sp>
        <p:nvSpPr>
          <p:cNvPr id="96"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97" name=""/>
          <p:cNvSpPr txBox="1"/>
          <p:nvPr/>
        </p:nvSpPr>
        <p:spPr>
          <a:xfrm>
            <a:off x="456120" y="1635120"/>
            <a:ext cx="8802000" cy="68004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1 – Schematics of a mixed signal circuit.</a:t>
            </a:r>
            <a:endParaRPr b="0" lang="en-GB" sz="2400" spc="-1" strike="noStrike">
              <a:solidFill>
                <a:srgbClr val="000000"/>
              </a:solidFill>
              <a:latin typeface="Times New Roman"/>
            </a:endParaRPr>
          </a:p>
        </p:txBody>
      </p:sp>
      <p:sp>
        <p:nvSpPr>
          <p:cNvPr id="98" name=""/>
          <p:cNvSpPr txBox="1"/>
          <p:nvPr/>
        </p:nvSpPr>
        <p:spPr>
          <a:xfrm>
            <a:off x="456120" y="2131200"/>
            <a:ext cx="6468480" cy="340200"/>
          </a:xfrm>
          <a:prstGeom prst="rect">
            <a:avLst/>
          </a:prstGeom>
          <a:noFill/>
          <a:ln w="0">
            <a:noFill/>
          </a:ln>
        </p:spPr>
        <p:txBody>
          <a:bodyPr lIns="0" rIns="0" tIns="0" bIns="0" anchor="t">
            <a:noAutofit/>
          </a:bodyPr>
          <a:p>
            <a:r>
              <a:rPr b="1" lang="en-GB" sz="2400" spc="-1" strike="noStrike">
                <a:solidFill>
                  <a:srgbClr val="90282a"/>
                </a:solidFill>
                <a:latin typeface="Arial"/>
                <a:ea typeface="Arial"/>
              </a:rPr>
              <a:t>►</a:t>
            </a:r>
            <a:r>
              <a:rPr b="1" lang="en-GB" sz="2400" spc="-1" strike="noStrike">
                <a:solidFill>
                  <a:srgbClr val="000000"/>
                </a:solidFill>
                <a:latin typeface="Arial"/>
                <a:ea typeface="Arial"/>
              </a:rPr>
              <a:t> </a:t>
            </a:r>
            <a:r>
              <a:rPr b="1" lang="en-GB" sz="2400" spc="-1" strike="noStrike">
                <a:solidFill>
                  <a:srgbClr val="000000"/>
                </a:solidFill>
                <a:latin typeface="Arial"/>
                <a:ea typeface="Arial"/>
              </a:rPr>
              <a:t>Task 2 – Programming the Arduino board.</a:t>
            </a:r>
            <a:endParaRPr b="0" lang="en-GB" sz="2400" spc="-1" strike="noStrike">
              <a:solidFill>
                <a:srgbClr val="000000"/>
              </a:solidFill>
              <a:latin typeface="Times New Roman"/>
            </a:endParaRPr>
          </a:p>
        </p:txBody>
      </p:sp>
      <p:sp>
        <p:nvSpPr>
          <p:cNvPr id="99" name=""/>
          <p:cNvSpPr txBox="1"/>
          <p:nvPr/>
        </p:nvSpPr>
        <p:spPr>
          <a:xfrm>
            <a:off x="456120" y="2626920"/>
            <a:ext cx="546984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3 – Introducing the LCD display.</a:t>
            </a:r>
            <a:endParaRPr b="0" lang="en-GB" sz="2400" spc="-1" strike="noStrike">
              <a:solidFill>
                <a:srgbClr val="000000"/>
              </a:solidFill>
              <a:latin typeface="Times New Roman"/>
            </a:endParaRPr>
          </a:p>
        </p:txBody>
      </p:sp>
      <p:sp>
        <p:nvSpPr>
          <p:cNvPr id="100" name=""/>
          <p:cNvSpPr txBox="1"/>
          <p:nvPr/>
        </p:nvSpPr>
        <p:spPr>
          <a:xfrm>
            <a:off x="456120" y="3113640"/>
            <a:ext cx="430056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4 – Conditioning circuit.</a:t>
            </a:r>
            <a:endParaRPr b="0" lang="en-GB" sz="2400" spc="-1" strike="noStrike">
              <a:solidFill>
                <a:srgbClr val="000000"/>
              </a:solidFill>
              <a:latin typeface="Times New Roman"/>
            </a:endParaRPr>
          </a:p>
        </p:txBody>
      </p:sp>
      <p:sp>
        <p:nvSpPr>
          <p:cNvPr id="101" name=""/>
          <p:cNvSpPr txBox="1"/>
          <p:nvPr/>
        </p:nvSpPr>
        <p:spPr>
          <a:xfrm>
            <a:off x="9829800" y="6520680"/>
            <a:ext cx="2338920" cy="337320"/>
          </a:xfrm>
          <a:prstGeom prst="rect">
            <a:avLst/>
          </a:prstGeom>
          <a:noFill/>
          <a:ln w="0">
            <a:noFill/>
          </a:ln>
        </p:spPr>
        <p:txBody>
          <a:bodyPr lIns="0" rIns="0" tIns="0" bIns="0" anchor="t">
            <a:noAutofit/>
          </a:bodyPr>
          <a:p>
            <a:pPr algn="ctr"/>
            <a:fld id="{AA1B34C5-A70E-44B7-B365-790ACB7CD8A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02" name=""/>
          <p:cNvSpPr txBox="1"/>
          <p:nvPr/>
        </p:nvSpPr>
        <p:spPr>
          <a:xfrm>
            <a:off x="457200" y="3582000"/>
            <a:ext cx="274248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 descr=""/>
          <p:cNvPicPr/>
          <p:nvPr/>
        </p:nvPicPr>
        <p:blipFill>
          <a:blip r:embed="rId1"/>
          <a:stretch/>
        </p:blipFill>
        <p:spPr>
          <a:xfrm>
            <a:off x="0" y="0"/>
            <a:ext cx="12191760" cy="504360"/>
          </a:xfrm>
          <a:prstGeom prst="rect">
            <a:avLst/>
          </a:prstGeom>
          <a:ln w="0">
            <a:noFill/>
          </a:ln>
        </p:spPr>
      </p:pic>
      <p:sp>
        <p:nvSpPr>
          <p:cNvPr id="104"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05" name=""/>
          <p:cNvSpPr txBox="1"/>
          <p:nvPr/>
        </p:nvSpPr>
        <p:spPr>
          <a:xfrm>
            <a:off x="10287000" y="6520680"/>
            <a:ext cx="1904760" cy="337320"/>
          </a:xfrm>
          <a:prstGeom prst="rect">
            <a:avLst/>
          </a:prstGeom>
          <a:noFill/>
          <a:ln w="0">
            <a:noFill/>
          </a:ln>
        </p:spPr>
        <p:txBody>
          <a:bodyPr lIns="0" rIns="0" tIns="0" bIns="0" anchor="t">
            <a:noAutofit/>
          </a:bodyPr>
          <a:p>
            <a:pPr algn="ctr"/>
            <a:fld id="{75B3E483-096E-4373-B57D-790D84E9FAA4}"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06" name=""/>
          <p:cNvSpPr txBox="1"/>
          <p:nvPr/>
        </p:nvSpPr>
        <p:spPr>
          <a:xfrm>
            <a:off x="6514920" y="1828800"/>
            <a:ext cx="5486400" cy="5074200"/>
          </a:xfrm>
          <a:prstGeom prst="rect">
            <a:avLst/>
          </a:prstGeom>
          <a:noFill/>
          <a:ln w="0">
            <a:noFill/>
          </a:ln>
        </p:spPr>
        <p:txBody>
          <a:bodyPr lIns="0" rIns="0" tIns="0" bIns="0" anchor="t">
            <a:noAutofit/>
          </a:bodyPr>
          <a:p>
            <a:r>
              <a:rPr b="0" lang="en-GB" sz="1600" spc="-1" strike="noStrike">
                <a:solidFill>
                  <a:srgbClr val="000000"/>
                </a:solidFill>
                <a:latin typeface="Times New Roman"/>
              </a:rPr>
              <a:t>The following code used, we code on-board Led blink by specific C programming language within Arduino. In the screenshot we mark it with white circle as result.</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r>
              <a:rPr b="0" lang="en-GB" sz="1600" spc="-1" strike="noStrike">
                <a:solidFill>
                  <a:srgbClr val="000000"/>
                </a:solidFill>
                <a:latin typeface="Times New Roman"/>
              </a:rPr>
              <a:t>Anyway, only for the first </a:t>
            </a:r>
            <a:r>
              <a:rPr b="1" lang="en-GB" sz="1600" spc="-1" strike="noStrike">
                <a:solidFill>
                  <a:srgbClr val="000000"/>
                </a:solidFill>
                <a:latin typeface="Times New Roman"/>
              </a:rPr>
              <a:t>task 2.1</a:t>
            </a:r>
            <a:r>
              <a:rPr b="0" lang="en-GB" sz="1600" spc="-1" strike="noStrike">
                <a:solidFill>
                  <a:srgbClr val="000000"/>
                </a:solidFill>
                <a:latin typeface="Times New Roman"/>
              </a:rPr>
              <a:t>, we set 100ms of lightening and 200ms off.</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r>
              <a:rPr b="0" lang="en-GB" sz="1600" spc="-1" strike="noStrike">
                <a:solidFill>
                  <a:srgbClr val="000000"/>
                </a:solidFill>
                <a:latin typeface="Times New Roman"/>
              </a:rPr>
              <a:t>Basically, in the function </a:t>
            </a:r>
            <a:r>
              <a:rPr b="0" i="1" lang="en-GB" sz="1600" spc="-1" strike="noStrike">
                <a:solidFill>
                  <a:srgbClr val="000000"/>
                </a:solidFill>
                <a:latin typeface="Times New Roman"/>
              </a:rPr>
              <a:t>setup </a:t>
            </a:r>
            <a:r>
              <a:rPr b="0" lang="en-GB" sz="1600" spc="-1" strike="noStrike">
                <a:solidFill>
                  <a:srgbClr val="000000"/>
                </a:solidFill>
                <a:latin typeface="Times New Roman"/>
              </a:rPr>
              <a:t>we set</a:t>
            </a:r>
            <a:r>
              <a:rPr b="0" i="1" lang="en-GB" sz="1600" spc="-1" strike="noStrike">
                <a:solidFill>
                  <a:srgbClr val="000000"/>
                </a:solidFill>
                <a:latin typeface="Times New Roman"/>
              </a:rPr>
              <a:t> </a:t>
            </a:r>
            <a:r>
              <a:rPr b="0" lang="en-GB" sz="1600" spc="-1" strike="noStrike">
                <a:solidFill>
                  <a:srgbClr val="000000"/>
                </a:solidFill>
                <a:latin typeface="Times New Roman"/>
              </a:rPr>
              <a:t>how many milliseconds the led blinks and the delay duration, set to 700ms.</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r>
              <a:rPr b="0" lang="en-GB" sz="1600" spc="-1" strike="noStrike">
                <a:solidFill>
                  <a:srgbClr val="000000"/>
                </a:solidFill>
                <a:latin typeface="Times New Roman"/>
              </a:rPr>
              <a:t>The function </a:t>
            </a:r>
            <a:r>
              <a:rPr b="0" i="1" lang="en-GB" sz="1600" spc="-1" strike="noStrike">
                <a:solidFill>
                  <a:srgbClr val="000000"/>
                </a:solidFill>
                <a:latin typeface="Times New Roman"/>
              </a:rPr>
              <a:t>loop</a:t>
            </a:r>
            <a:r>
              <a:rPr b="0" lang="en-GB" sz="1600" spc="-1" strike="noStrike">
                <a:solidFill>
                  <a:srgbClr val="000000"/>
                </a:solidFill>
                <a:latin typeface="Times New Roman"/>
              </a:rPr>
              <a:t>, read the main function </a:t>
            </a:r>
            <a:r>
              <a:rPr b="1" lang="en-GB" sz="1600" spc="-1" strike="noStrike">
                <a:solidFill>
                  <a:srgbClr val="000000"/>
                </a:solidFill>
                <a:latin typeface="Times New Roman"/>
              </a:rPr>
              <a:t>toggleLed</a:t>
            </a:r>
            <a:r>
              <a:rPr b="0" lang="en-GB" sz="1600" spc="-1" strike="noStrike">
                <a:solidFill>
                  <a:srgbClr val="000000"/>
                </a:solidFill>
                <a:latin typeface="Times New Roman"/>
              </a:rPr>
              <a:t>, with two arguments, </a:t>
            </a:r>
            <a:r>
              <a:rPr b="0" i="1" lang="en-GB" sz="1600" spc="-1" strike="noStrike">
                <a:solidFill>
                  <a:srgbClr val="000000"/>
                </a:solidFill>
                <a:latin typeface="Times New Roman"/>
              </a:rPr>
              <a:t>p</a:t>
            </a:r>
            <a:r>
              <a:rPr b="0" lang="en-GB" sz="1600" spc="-1" strike="noStrike">
                <a:solidFill>
                  <a:srgbClr val="000000"/>
                </a:solidFill>
                <a:latin typeface="Times New Roman"/>
              </a:rPr>
              <a:t> (pulse) and </a:t>
            </a:r>
            <a:r>
              <a:rPr b="0" i="1" lang="en-GB" sz="1600" spc="-1" strike="noStrike">
                <a:solidFill>
                  <a:srgbClr val="000000"/>
                </a:solidFill>
                <a:latin typeface="Times New Roman"/>
              </a:rPr>
              <a:t>w</a:t>
            </a:r>
            <a:r>
              <a:rPr b="0" lang="en-GB" sz="1600" spc="-1" strike="noStrike">
                <a:solidFill>
                  <a:srgbClr val="000000"/>
                </a:solidFill>
                <a:latin typeface="Times New Roman"/>
              </a:rPr>
              <a:t> (width) and assign the delay per each.</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endParaRPr b="0" lang="en-GB" sz="2000" spc="-1" strike="noStrike">
              <a:solidFill>
                <a:srgbClr val="000000"/>
              </a:solidFill>
              <a:latin typeface="Times New Roman"/>
            </a:endParaRPr>
          </a:p>
          <a:p>
            <a:endParaRPr b="0" lang="en-GB" sz="2000" spc="-1" strike="noStrike">
              <a:solidFill>
                <a:srgbClr val="000000"/>
              </a:solidFill>
              <a:latin typeface="Times New Roman"/>
            </a:endParaRPr>
          </a:p>
        </p:txBody>
      </p:sp>
      <p:pic>
        <p:nvPicPr>
          <p:cNvPr id="107" name="" descr=""/>
          <p:cNvPicPr/>
          <p:nvPr/>
        </p:nvPicPr>
        <p:blipFill>
          <a:blip r:embed="rId2"/>
          <a:stretch/>
        </p:blipFill>
        <p:spPr>
          <a:xfrm>
            <a:off x="448200" y="1748520"/>
            <a:ext cx="5952600" cy="3737880"/>
          </a:xfrm>
          <a:prstGeom prst="rect">
            <a:avLst/>
          </a:prstGeom>
          <a:ln w="0">
            <a:noFill/>
          </a:ln>
        </p:spPr>
      </p:pic>
      <p:sp>
        <p:nvSpPr>
          <p:cNvPr id="10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109" name=""/>
          <p:cNvSpPr/>
          <p:nvPr/>
        </p:nvSpPr>
        <p:spPr>
          <a:xfrm flipV="1">
            <a:off x="2400120" y="3200400"/>
            <a:ext cx="914400" cy="1371600"/>
          </a:xfrm>
          <a:prstGeom prst="line">
            <a:avLst/>
          </a:prstGeom>
          <a:ln w="0">
            <a:solidFill>
              <a:srgbClr val="3465a4"/>
            </a:solidFill>
            <a:tailEnd len="med" type="triangle" w="med"/>
          </a:ln>
        </p:spPr>
        <p:style>
          <a:lnRef idx="0"/>
          <a:fillRef idx="0"/>
          <a:effectRef idx="0"/>
          <a:fontRef idx="minor"/>
        </p:style>
        <p:txBody>
          <a:bodyPr lIns="0" rIns="0" tIns="0" bIns="0" anchor="ctr" anchorCtr="1">
            <a:noAutofit/>
          </a:bodyPr>
          <a:p>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 descr=""/>
          <p:cNvPicPr/>
          <p:nvPr/>
        </p:nvPicPr>
        <p:blipFill>
          <a:blip r:embed="rId1"/>
          <a:stretch/>
        </p:blipFill>
        <p:spPr>
          <a:xfrm>
            <a:off x="0" y="0"/>
            <a:ext cx="12191760" cy="504360"/>
          </a:xfrm>
          <a:prstGeom prst="rect">
            <a:avLst/>
          </a:prstGeom>
          <a:ln w="0">
            <a:noFill/>
          </a:ln>
        </p:spPr>
      </p:pic>
      <p:sp>
        <p:nvSpPr>
          <p:cNvPr id="11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12" name=""/>
          <p:cNvSpPr txBox="1"/>
          <p:nvPr/>
        </p:nvSpPr>
        <p:spPr>
          <a:xfrm>
            <a:off x="10287000" y="6520680"/>
            <a:ext cx="1904760" cy="337320"/>
          </a:xfrm>
          <a:prstGeom prst="rect">
            <a:avLst/>
          </a:prstGeom>
          <a:noFill/>
          <a:ln w="0">
            <a:noFill/>
          </a:ln>
        </p:spPr>
        <p:txBody>
          <a:bodyPr lIns="0" rIns="0" tIns="0" bIns="0" anchor="t">
            <a:noAutofit/>
          </a:bodyPr>
          <a:p>
            <a:pPr algn="ctr"/>
            <a:fld id="{C060C53B-2339-4D1F-A18A-B772D65389C8}"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13" name=""/>
          <p:cNvSpPr txBox="1"/>
          <p:nvPr/>
        </p:nvSpPr>
        <p:spPr>
          <a:xfrm>
            <a:off x="6819840" y="1555200"/>
            <a:ext cx="4724280" cy="451044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a:t>
            </a:r>
            <a:r>
              <a:rPr b="1" lang="en-GB" sz="1800" spc="-1" strike="noStrike">
                <a:solidFill>
                  <a:srgbClr val="000000"/>
                </a:solidFill>
                <a:latin typeface="Times New Roman"/>
              </a:rPr>
              <a:t>task 2.1</a:t>
            </a:r>
            <a:r>
              <a:rPr b="0" lang="en-GB" sz="1800" spc="-1" strike="noStrike">
                <a:solidFill>
                  <a:srgbClr val="000000"/>
                </a:solidFill>
                <a:latin typeface="Times New Roman"/>
              </a:rPr>
              <a:t> we show the best approach to programming on Arduino UNO Board, using the code section and interact with the all physical components. As group E, we have temperature sensor with a range 0ºC to 80ºC.</a:t>
            </a:r>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a:p>
            <a:r>
              <a:rPr b="0" lang="en-GB" sz="1800" spc="-1" strike="noStrike">
                <a:solidFill>
                  <a:srgbClr val="000000"/>
                </a:solidFill>
                <a:latin typeface="Times New Roman"/>
              </a:rPr>
              <a:t>In this screenshot, we are able to show the temperature sensor connected via analog port, A0. In the first voltmeter, we still see the input voltage, 5V. In the second one, we show the output voltage of temperature sensor, the Vout.</a:t>
            </a:r>
            <a:br>
              <a:rPr sz="1800"/>
            </a:br>
            <a:br>
              <a:rPr sz="1800"/>
            </a:br>
            <a:r>
              <a:rPr b="0" lang="en-GB" sz="1800" spc="-1" strike="noStrike">
                <a:solidFill>
                  <a:srgbClr val="000000"/>
                </a:solidFill>
                <a:latin typeface="Times New Roman"/>
              </a:rPr>
              <a:t>As the first task, we are going to show some basic function, such as how the on-board led blink works.</a:t>
            </a:r>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p:txBody>
      </p:sp>
      <p:pic>
        <p:nvPicPr>
          <p:cNvPr id="114" name="" descr=""/>
          <p:cNvPicPr/>
          <p:nvPr/>
        </p:nvPicPr>
        <p:blipFill>
          <a:blip r:embed="rId2"/>
          <a:stretch/>
        </p:blipFill>
        <p:spPr>
          <a:xfrm>
            <a:off x="114120" y="1828800"/>
            <a:ext cx="6582960" cy="37717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5" name="" descr=""/>
          <p:cNvPicPr/>
          <p:nvPr/>
        </p:nvPicPr>
        <p:blipFill>
          <a:blip r:embed="rId1"/>
          <a:stretch/>
        </p:blipFill>
        <p:spPr>
          <a:xfrm>
            <a:off x="0" y="0"/>
            <a:ext cx="12191760" cy="504360"/>
          </a:xfrm>
          <a:prstGeom prst="rect">
            <a:avLst/>
          </a:prstGeom>
          <a:ln w="0">
            <a:noFill/>
          </a:ln>
        </p:spPr>
      </p:pic>
      <p:sp>
        <p:nvSpPr>
          <p:cNvPr id="116"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17" name=""/>
          <p:cNvSpPr txBox="1"/>
          <p:nvPr/>
        </p:nvSpPr>
        <p:spPr>
          <a:xfrm>
            <a:off x="10287000" y="6520680"/>
            <a:ext cx="1904760" cy="337320"/>
          </a:xfrm>
          <a:prstGeom prst="rect">
            <a:avLst/>
          </a:prstGeom>
          <a:noFill/>
          <a:ln w="0">
            <a:noFill/>
          </a:ln>
        </p:spPr>
        <p:txBody>
          <a:bodyPr lIns="0" rIns="0" tIns="0" bIns="0" anchor="t">
            <a:noAutofit/>
          </a:bodyPr>
          <a:p>
            <a:pPr algn="ctr"/>
            <a:fld id="{AB23D460-AD08-45B3-8286-F3A27E3D3C95}"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18" name=""/>
          <p:cNvSpPr txBox="1"/>
          <p:nvPr/>
        </p:nvSpPr>
        <p:spPr>
          <a:xfrm>
            <a:off x="7277040" y="1828800"/>
            <a:ext cx="4724280" cy="4642200"/>
          </a:xfrm>
          <a:prstGeom prst="rect">
            <a:avLst/>
          </a:prstGeom>
          <a:noFill/>
          <a:ln w="0">
            <a:noFill/>
          </a:ln>
        </p:spPr>
        <p:txBody>
          <a:bodyPr lIns="0" rIns="0" tIns="0" bIns="0" anchor="t">
            <a:noAutofit/>
          </a:bodyPr>
          <a:p>
            <a:r>
              <a:rPr b="0" lang="en-GB" sz="1600" spc="-1" strike="noStrike">
                <a:solidFill>
                  <a:srgbClr val="000000"/>
                </a:solidFill>
                <a:latin typeface="Times New Roman"/>
              </a:rPr>
              <a:t>In the </a:t>
            </a:r>
            <a:r>
              <a:rPr b="1" lang="en-GB" sz="1600" spc="-1" strike="noStrike">
                <a:solidFill>
                  <a:srgbClr val="000000"/>
                </a:solidFill>
                <a:latin typeface="Times New Roman"/>
              </a:rPr>
              <a:t>task 2.2</a:t>
            </a:r>
            <a:r>
              <a:rPr b="0" lang="en-GB" sz="1600" spc="-1" strike="noStrike">
                <a:solidFill>
                  <a:srgbClr val="000000"/>
                </a:solidFill>
                <a:latin typeface="Times New Roman"/>
              </a:rPr>
              <a:t>, we add some functions more to show the analog to digital conversion in the serial monitor (the output text below the code section). The requirement is interact directly with the temperature sensor, using the slicer with the range 0ºC to 80ºC.</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r>
              <a:rPr b="0" lang="en-GB" sz="1600" spc="-1" strike="noStrike">
                <a:solidFill>
                  <a:srgbClr val="000000"/>
                </a:solidFill>
                <a:latin typeface="Times New Roman"/>
              </a:rPr>
              <a:t>After set the input variable, the constant </a:t>
            </a:r>
            <a:r>
              <a:rPr b="1" lang="en-GB" sz="1600" spc="-1" strike="noStrike">
                <a:solidFill>
                  <a:srgbClr val="000000"/>
                </a:solidFill>
                <a:latin typeface="Times New Roman"/>
              </a:rPr>
              <a:t>adcPin</a:t>
            </a:r>
            <a:r>
              <a:rPr b="0" lang="en-GB" sz="1600" spc="-1" strike="noStrike">
                <a:solidFill>
                  <a:srgbClr val="000000"/>
                </a:solidFill>
                <a:latin typeface="Times New Roman"/>
              </a:rPr>
              <a:t> connected by A0 analog port, we add more functions in the main code. The first to convert the analog signal to digital. And the second function, to show the output text on the </a:t>
            </a:r>
            <a:r>
              <a:rPr b="1" lang="en-GB" sz="1600" spc="-1" strike="noStrike">
                <a:solidFill>
                  <a:srgbClr val="000000"/>
                </a:solidFill>
                <a:latin typeface="Times New Roman"/>
              </a:rPr>
              <a:t>Serial Monitor</a:t>
            </a:r>
            <a:r>
              <a:rPr b="0" lang="en-GB" sz="1600" spc="-1" strike="noStrike">
                <a:solidFill>
                  <a:srgbClr val="000000"/>
                </a:solidFill>
                <a:latin typeface="Times New Roman"/>
              </a:rPr>
              <a:t>.</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a:p>
            <a:r>
              <a:rPr b="0" lang="en-GB" sz="1600" spc="-1" strike="noStrike">
                <a:solidFill>
                  <a:srgbClr val="000000"/>
                </a:solidFill>
                <a:latin typeface="Times New Roman"/>
              </a:rPr>
              <a:t>So, the variable </a:t>
            </a:r>
            <a:r>
              <a:rPr b="0" i="1" lang="en-GB" sz="1600" spc="-1" strike="noStrike">
                <a:solidFill>
                  <a:srgbClr val="000000"/>
                </a:solidFill>
                <a:latin typeface="Times New Roman"/>
              </a:rPr>
              <a:t>adcPin</a:t>
            </a:r>
            <a:r>
              <a:rPr b="0" lang="en-GB" sz="1600" spc="-1" strike="noStrike">
                <a:solidFill>
                  <a:srgbClr val="000000"/>
                </a:solidFill>
                <a:latin typeface="Times New Roman"/>
              </a:rPr>
              <a:t> get from the port A0 the analog value from the temperature sensor, and the it shows in the serial monitor the digital value. It’s expressed as a number between 0 and 1023.</a:t>
            </a:r>
            <a:endParaRPr b="0" lang="en-GB" sz="1600" spc="-1" strike="noStrike">
              <a:solidFill>
                <a:srgbClr val="000000"/>
              </a:solidFill>
              <a:latin typeface="Times New Roman"/>
            </a:endParaRPr>
          </a:p>
          <a:p>
            <a:endParaRPr b="0" lang="en-GB" sz="2000" spc="-1" strike="noStrike">
              <a:solidFill>
                <a:srgbClr val="000000"/>
              </a:solidFill>
              <a:latin typeface="Times New Roman"/>
            </a:endParaRPr>
          </a:p>
        </p:txBody>
      </p:sp>
      <p:sp>
        <p:nvSpPr>
          <p:cNvPr id="119"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20" name="" descr=""/>
          <p:cNvPicPr/>
          <p:nvPr/>
        </p:nvPicPr>
        <p:blipFill>
          <a:blip r:embed="rId2"/>
          <a:stretch/>
        </p:blipFill>
        <p:spPr>
          <a:xfrm>
            <a:off x="228600" y="1904400"/>
            <a:ext cx="6949800" cy="34675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 descr=""/>
          <p:cNvPicPr/>
          <p:nvPr/>
        </p:nvPicPr>
        <p:blipFill>
          <a:blip r:embed="rId1"/>
          <a:stretch/>
        </p:blipFill>
        <p:spPr>
          <a:xfrm>
            <a:off x="0" y="0"/>
            <a:ext cx="12191760" cy="504360"/>
          </a:xfrm>
          <a:prstGeom prst="rect">
            <a:avLst/>
          </a:prstGeom>
          <a:ln w="0">
            <a:noFill/>
          </a:ln>
        </p:spPr>
      </p:pic>
      <p:sp>
        <p:nvSpPr>
          <p:cNvPr id="122"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23" name=""/>
          <p:cNvSpPr txBox="1"/>
          <p:nvPr/>
        </p:nvSpPr>
        <p:spPr>
          <a:xfrm>
            <a:off x="10287000" y="6520680"/>
            <a:ext cx="1904760" cy="337320"/>
          </a:xfrm>
          <a:prstGeom prst="rect">
            <a:avLst/>
          </a:prstGeom>
          <a:noFill/>
          <a:ln w="0">
            <a:noFill/>
          </a:ln>
        </p:spPr>
        <p:txBody>
          <a:bodyPr lIns="0" rIns="0" tIns="0" bIns="0" anchor="t">
            <a:noAutofit/>
          </a:bodyPr>
          <a:p>
            <a:pPr algn="ctr"/>
            <a:fld id="{0ACD97A6-E979-4C94-A4EF-7489A12CEBE0}"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24" name=""/>
          <p:cNvSpPr txBox="1"/>
          <p:nvPr/>
        </p:nvSpPr>
        <p:spPr>
          <a:xfrm>
            <a:off x="571320" y="5829120"/>
            <a:ext cx="11086920" cy="5641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show the temperature sensor set to minimum ~0ºC; the output voltage ~500mV and in the bottom-right the analog value converted to digital, ADC=~102.</a:t>
            </a:r>
            <a:endParaRPr b="0" lang="en-GB" sz="1800" spc="-1" strike="noStrike">
              <a:solidFill>
                <a:srgbClr val="000000"/>
              </a:solidFill>
              <a:latin typeface="Times New Roman"/>
            </a:endParaRPr>
          </a:p>
        </p:txBody>
      </p:sp>
      <p:sp>
        <p:nvSpPr>
          <p:cNvPr id="125"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26" name="" descr=""/>
          <p:cNvPicPr/>
          <p:nvPr/>
        </p:nvPicPr>
        <p:blipFill>
          <a:blip r:embed="rId2"/>
          <a:stretch/>
        </p:blipFill>
        <p:spPr>
          <a:xfrm>
            <a:off x="1028520" y="1371600"/>
            <a:ext cx="9829800" cy="42314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 descr=""/>
          <p:cNvPicPr/>
          <p:nvPr/>
        </p:nvPicPr>
        <p:blipFill>
          <a:blip r:embed="rId1"/>
          <a:stretch/>
        </p:blipFill>
        <p:spPr>
          <a:xfrm>
            <a:off x="0" y="0"/>
            <a:ext cx="12191760" cy="504360"/>
          </a:xfrm>
          <a:prstGeom prst="rect">
            <a:avLst/>
          </a:prstGeom>
          <a:ln w="0">
            <a:noFill/>
          </a:ln>
        </p:spPr>
      </p:pic>
      <p:sp>
        <p:nvSpPr>
          <p:cNvPr id="128"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29" name=""/>
          <p:cNvSpPr txBox="1"/>
          <p:nvPr/>
        </p:nvSpPr>
        <p:spPr>
          <a:xfrm>
            <a:off x="10287000" y="6520680"/>
            <a:ext cx="1904760" cy="337320"/>
          </a:xfrm>
          <a:prstGeom prst="rect">
            <a:avLst/>
          </a:prstGeom>
          <a:noFill/>
          <a:ln w="0">
            <a:noFill/>
          </a:ln>
        </p:spPr>
        <p:txBody>
          <a:bodyPr lIns="0" rIns="0" tIns="0" bIns="0" anchor="t">
            <a:noAutofit/>
          </a:bodyPr>
          <a:p>
            <a:pPr algn="ctr"/>
            <a:fld id="{68568A15-ACAA-479E-98D9-FE0C74498A19}"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30" name=""/>
          <p:cNvSpPr txBox="1"/>
          <p:nvPr/>
        </p:nvSpPr>
        <p:spPr>
          <a:xfrm>
            <a:off x="571320" y="5829120"/>
            <a:ext cx="11086920" cy="5641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show the temperature sensor set to 25ºC; the output voltage ~749mV and in the bottom-right the analog value converted to digital ADC=153.</a:t>
            </a:r>
            <a:endParaRPr b="0" lang="en-GB" sz="1800" spc="-1" strike="noStrike">
              <a:solidFill>
                <a:srgbClr val="000000"/>
              </a:solidFill>
              <a:latin typeface="Times New Roman"/>
            </a:endParaRPr>
          </a:p>
        </p:txBody>
      </p:sp>
      <p:sp>
        <p:nvSpPr>
          <p:cNvPr id="131"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32" name="" descr=""/>
          <p:cNvPicPr/>
          <p:nvPr/>
        </p:nvPicPr>
        <p:blipFill>
          <a:blip r:embed="rId2"/>
          <a:stretch/>
        </p:blipFill>
        <p:spPr>
          <a:xfrm>
            <a:off x="1143000" y="1257120"/>
            <a:ext cx="9921600" cy="45291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 descr=""/>
          <p:cNvPicPr/>
          <p:nvPr/>
        </p:nvPicPr>
        <p:blipFill>
          <a:blip r:embed="rId1"/>
          <a:stretch/>
        </p:blipFill>
        <p:spPr>
          <a:xfrm>
            <a:off x="0" y="0"/>
            <a:ext cx="12191760" cy="504360"/>
          </a:xfrm>
          <a:prstGeom prst="rect">
            <a:avLst/>
          </a:prstGeom>
          <a:ln w="0">
            <a:noFill/>
          </a:ln>
        </p:spPr>
      </p:pic>
      <p:sp>
        <p:nvSpPr>
          <p:cNvPr id="134"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35" name=""/>
          <p:cNvSpPr txBox="1"/>
          <p:nvPr/>
        </p:nvSpPr>
        <p:spPr>
          <a:xfrm>
            <a:off x="10287000" y="6520680"/>
            <a:ext cx="1904760" cy="337320"/>
          </a:xfrm>
          <a:prstGeom prst="rect">
            <a:avLst/>
          </a:prstGeom>
          <a:noFill/>
          <a:ln w="0">
            <a:noFill/>
          </a:ln>
        </p:spPr>
        <p:txBody>
          <a:bodyPr lIns="0" rIns="0" tIns="0" bIns="0" anchor="t">
            <a:noAutofit/>
          </a:bodyPr>
          <a:p>
            <a:pPr algn="ctr"/>
            <a:fld id="{AFBA280A-55C4-49B2-8618-A9965EF61AC5}"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36" name=""/>
          <p:cNvSpPr txBox="1"/>
          <p:nvPr/>
        </p:nvSpPr>
        <p:spPr>
          <a:xfrm>
            <a:off x="571320" y="5829120"/>
            <a:ext cx="11086920" cy="5641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show the temperature sensor set to 65ºC; the output voltage ~1.15V and in the bottom-right the analog value converted to digital ADC=235.</a:t>
            </a:r>
            <a:endParaRPr b="0" lang="en-GB" sz="1800" spc="-1" strike="noStrike">
              <a:solidFill>
                <a:srgbClr val="000000"/>
              </a:solidFill>
              <a:latin typeface="Times New Roman"/>
            </a:endParaRPr>
          </a:p>
        </p:txBody>
      </p:sp>
      <p:sp>
        <p:nvSpPr>
          <p:cNvPr id="137"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38" name="" descr=""/>
          <p:cNvPicPr/>
          <p:nvPr/>
        </p:nvPicPr>
        <p:blipFill>
          <a:blip r:embed="rId2"/>
          <a:stretch/>
        </p:blipFill>
        <p:spPr>
          <a:xfrm>
            <a:off x="1165320" y="1288800"/>
            <a:ext cx="10036080" cy="442620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 descr=""/>
          <p:cNvPicPr/>
          <p:nvPr/>
        </p:nvPicPr>
        <p:blipFill>
          <a:blip r:embed="rId1"/>
          <a:stretch/>
        </p:blipFill>
        <p:spPr>
          <a:xfrm>
            <a:off x="0" y="0"/>
            <a:ext cx="12191760" cy="504360"/>
          </a:xfrm>
          <a:prstGeom prst="rect">
            <a:avLst/>
          </a:prstGeom>
          <a:ln w="0">
            <a:noFill/>
          </a:ln>
        </p:spPr>
      </p:pic>
      <p:sp>
        <p:nvSpPr>
          <p:cNvPr id="140"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41" name=""/>
          <p:cNvSpPr txBox="1"/>
          <p:nvPr/>
        </p:nvSpPr>
        <p:spPr>
          <a:xfrm>
            <a:off x="10287000" y="6520680"/>
            <a:ext cx="1904760" cy="337320"/>
          </a:xfrm>
          <a:prstGeom prst="rect">
            <a:avLst/>
          </a:prstGeom>
          <a:noFill/>
          <a:ln w="0">
            <a:noFill/>
          </a:ln>
        </p:spPr>
        <p:txBody>
          <a:bodyPr lIns="0" rIns="0" tIns="0" bIns="0" anchor="t">
            <a:noAutofit/>
          </a:bodyPr>
          <a:p>
            <a:pPr algn="ctr"/>
            <a:fld id="{F0CEBEEC-F173-4C1F-A2DC-FA8D1967D28B}"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42" name=""/>
          <p:cNvSpPr txBox="1"/>
          <p:nvPr/>
        </p:nvSpPr>
        <p:spPr>
          <a:xfrm>
            <a:off x="571320" y="5829120"/>
            <a:ext cx="11086920" cy="56412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show the temperature sensor set to maximum 80ºC; the output voltage ~1.30V and in the bottom-right the analog value converted to digital ADC=266.</a:t>
            </a:r>
            <a:endParaRPr b="0" lang="en-GB" sz="1800" spc="-1" strike="noStrike">
              <a:solidFill>
                <a:srgbClr val="000000"/>
              </a:solidFill>
              <a:latin typeface="Times New Roman"/>
            </a:endParaRPr>
          </a:p>
        </p:txBody>
      </p:sp>
      <p:sp>
        <p:nvSpPr>
          <p:cNvPr id="143"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44" name="" descr=""/>
          <p:cNvPicPr/>
          <p:nvPr/>
        </p:nvPicPr>
        <p:blipFill>
          <a:blip r:embed="rId2"/>
          <a:stretch/>
        </p:blipFill>
        <p:spPr>
          <a:xfrm>
            <a:off x="342720" y="1215000"/>
            <a:ext cx="11666880" cy="461412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5" name="" descr=""/>
          <p:cNvPicPr/>
          <p:nvPr/>
        </p:nvPicPr>
        <p:blipFill>
          <a:blip r:embed="rId1"/>
          <a:stretch/>
        </p:blipFill>
        <p:spPr>
          <a:xfrm>
            <a:off x="0" y="0"/>
            <a:ext cx="12191760" cy="504360"/>
          </a:xfrm>
          <a:prstGeom prst="rect">
            <a:avLst/>
          </a:prstGeom>
          <a:ln w="0">
            <a:noFill/>
          </a:ln>
        </p:spPr>
      </p:pic>
      <p:sp>
        <p:nvSpPr>
          <p:cNvPr id="146" name=""/>
          <p:cNvSpPr txBox="1"/>
          <p:nvPr/>
        </p:nvSpPr>
        <p:spPr>
          <a:xfrm>
            <a:off x="341280" y="840600"/>
            <a:ext cx="10288440" cy="53100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47" name=""/>
          <p:cNvSpPr txBox="1"/>
          <p:nvPr/>
        </p:nvSpPr>
        <p:spPr>
          <a:xfrm>
            <a:off x="10287000" y="6520680"/>
            <a:ext cx="1904760" cy="337320"/>
          </a:xfrm>
          <a:prstGeom prst="rect">
            <a:avLst/>
          </a:prstGeom>
          <a:noFill/>
          <a:ln w="0">
            <a:noFill/>
          </a:ln>
        </p:spPr>
        <p:txBody>
          <a:bodyPr lIns="0" rIns="0" tIns="0" bIns="0" anchor="t">
            <a:noAutofit/>
          </a:bodyPr>
          <a:p>
            <a:pPr algn="ctr"/>
            <a:fld id="{FEB9790B-444E-42CF-99D2-4743B626B83E}"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graphicFrame>
        <p:nvGraphicFramePr>
          <p:cNvPr id="148" name=""/>
          <p:cNvGraphicFramePr/>
          <p:nvPr/>
        </p:nvGraphicFramePr>
        <p:xfrm>
          <a:off x="621360" y="2085480"/>
          <a:ext cx="10621800" cy="2662920"/>
        </p:xfrm>
        <a:graphic>
          <a:graphicData uri="http://schemas.openxmlformats.org/drawingml/2006/table">
            <a:tbl>
              <a:tblPr/>
              <a:tblGrid>
                <a:gridCol w="3196080"/>
                <a:gridCol w="2032560"/>
                <a:gridCol w="1797840"/>
                <a:gridCol w="1797840"/>
                <a:gridCol w="1797840"/>
              </a:tblGrid>
              <a:tr h="532440">
                <a:tc>
                  <a:txBody>
                    <a:bodyPr lIns="36000" rIns="36000" tIns="36000" bIns="36000" anchor="t">
                      <a:noAutofit/>
                    </a:bodyPr>
                    <a:p>
                      <a:endParaRPr b="0" lang="en-GB" sz="1800" spc="-1" strike="noStrike">
                        <a:solidFill>
                          <a:srgbClr val="ffffff"/>
                        </a:solidFill>
                        <a:latin typeface="Arial"/>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T (ºC)</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Vin</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Vout</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ADC value</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r>
              <a:tr h="532440">
                <a:tc>
                  <a:txBody>
                    <a:bodyPr lIns="36000" rIns="36000" tIns="36000" bIns="36000" anchor="ctr">
                      <a:noAutofit/>
                    </a:bodyPr>
                    <a:p>
                      <a:r>
                        <a:rPr b="0" lang="en-GB" sz="1600" spc="-1" strike="noStrike">
                          <a:solidFill>
                            <a:srgbClr val="000000"/>
                          </a:solidFill>
                          <a:latin typeface="Times New Roman"/>
                        </a:rPr>
                        <a:t>Minimum Temp value</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0ºC</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5V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~500mV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~102</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r>
              <a:tr h="532440">
                <a:tc>
                  <a:txBody>
                    <a:bodyPr lIns="36000" rIns="36000" tIns="36000" bIns="36000" anchor="ctr">
                      <a:noAutofit/>
                    </a:bodyPr>
                    <a:p>
                      <a:r>
                        <a:rPr b="0" lang="en-GB" sz="1600" spc="-1" strike="noStrike">
                          <a:solidFill>
                            <a:srgbClr val="000000"/>
                          </a:solidFill>
                          <a:latin typeface="Times New Roman"/>
                        </a:rPr>
                        <a:t>T0</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25ºC</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5V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~749mv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~153</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532440">
                <a:tc>
                  <a:txBody>
                    <a:bodyPr lIns="36000" rIns="36000" tIns="36000" bIns="36000" anchor="ctr">
                      <a:noAutofit/>
                    </a:bodyPr>
                    <a:p>
                      <a:r>
                        <a:rPr b="0" lang="en-GB" sz="1600" spc="-1" strike="noStrike">
                          <a:solidFill>
                            <a:srgbClr val="000000"/>
                          </a:solidFill>
                          <a:latin typeface="Times New Roman"/>
                        </a:rPr>
                        <a:t>T1</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65ºC</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5V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~1.15V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600" spc="-1" strike="noStrike">
                          <a:solidFill>
                            <a:srgbClr val="000000"/>
                          </a:solidFill>
                          <a:latin typeface="Times New Roman"/>
                        </a:rPr>
                        <a:t>~235</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533520">
                <a:tc>
                  <a:txBody>
                    <a:bodyPr lIns="36000" rIns="36000" tIns="36000" bIns="36000" anchor="ctr">
                      <a:noAutofit/>
                    </a:bodyPr>
                    <a:p>
                      <a:r>
                        <a:rPr b="0" lang="en-GB" sz="1600" spc="-1" strike="noStrike">
                          <a:solidFill>
                            <a:srgbClr val="000000"/>
                          </a:solidFill>
                          <a:latin typeface="Times New Roman"/>
                        </a:rPr>
                        <a:t>Maximum Temp value</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80ºC</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5V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~1.30V</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600" spc="-1" strike="noStrike">
                          <a:solidFill>
                            <a:srgbClr val="000000"/>
                          </a:solidFill>
                          <a:latin typeface="Times New Roman"/>
                        </a:rPr>
                        <a:t>~266</a:t>
                      </a:r>
                      <a:endParaRPr b="0" lang="en-GB" sz="16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
        <p:nvSpPr>
          <p:cNvPr id="149" name=""/>
          <p:cNvSpPr txBox="1"/>
          <p:nvPr/>
        </p:nvSpPr>
        <p:spPr>
          <a:xfrm>
            <a:off x="571320" y="4922640"/>
            <a:ext cx="10858680" cy="1478160"/>
          </a:xfrm>
          <a:prstGeom prst="rect">
            <a:avLst/>
          </a:prstGeom>
          <a:noFill/>
          <a:ln w="0">
            <a:noFill/>
          </a:ln>
        </p:spPr>
        <p:txBody>
          <a:bodyPr lIns="0" rIns="0" tIns="0" bIns="0" anchor="t">
            <a:noAutofit/>
          </a:bodyPr>
          <a:p>
            <a:r>
              <a:rPr b="1" lang="en-GB" sz="1800" spc="-1" strike="noStrike">
                <a:solidFill>
                  <a:srgbClr val="000000"/>
                </a:solidFill>
                <a:latin typeface="Times New Roman"/>
              </a:rPr>
              <a:t>Table III</a:t>
            </a:r>
            <a:r>
              <a:rPr b="0" lang="en-GB" sz="1800" spc="-1" strike="noStrike">
                <a:solidFill>
                  <a:srgbClr val="000000"/>
                </a:solidFill>
                <a:latin typeface="Times New Roman"/>
              </a:rPr>
              <a:t> - The table shows the values with analog port connected with the temperature sensor. </a:t>
            </a:r>
            <a:br>
              <a:rPr sz="1800"/>
            </a:br>
            <a:r>
              <a:rPr b="0" lang="en-GB" sz="1800" spc="-1" strike="noStrike">
                <a:solidFill>
                  <a:srgbClr val="000000"/>
                </a:solidFill>
                <a:latin typeface="Times New Roman"/>
              </a:rPr>
              <a:t>That’s mean we are able to show the output voltage and the original analog value in the Serial Monitor. </a:t>
            </a:r>
            <a:endParaRPr b="0" lang="en-GB" sz="1800" spc="-1" strike="noStrike">
              <a:solidFill>
                <a:srgbClr val="000000"/>
              </a:solidFill>
              <a:latin typeface="Times New Roman"/>
            </a:endParaRPr>
          </a:p>
          <a:p>
            <a:r>
              <a:rPr b="0" lang="en-GB" sz="1800" spc="-1" strike="noStrike">
                <a:solidFill>
                  <a:srgbClr val="000000"/>
                </a:solidFill>
                <a:latin typeface="Times New Roman"/>
              </a:rPr>
              <a:t>It’s important to remind that the output values are the approximation, due the oscillations of the input voltage, isn’t 5V precisely and the temperature sensor doesn’t set the decimal part. </a:t>
            </a:r>
            <a:endParaRPr b="0" lang="en-GB"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 descr=""/>
          <p:cNvPicPr/>
          <p:nvPr/>
        </p:nvPicPr>
        <p:blipFill>
          <a:blip r:embed="rId1"/>
          <a:stretch/>
        </p:blipFill>
        <p:spPr>
          <a:xfrm>
            <a:off x="0" y="0"/>
            <a:ext cx="12191760" cy="504360"/>
          </a:xfrm>
          <a:prstGeom prst="rect">
            <a:avLst/>
          </a:prstGeom>
          <a:ln w="0">
            <a:noFill/>
          </a:ln>
        </p:spPr>
      </p:pic>
      <p:sp>
        <p:nvSpPr>
          <p:cNvPr id="151"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52" name=""/>
          <p:cNvSpPr txBox="1"/>
          <p:nvPr/>
        </p:nvSpPr>
        <p:spPr>
          <a:xfrm>
            <a:off x="10287000" y="6520680"/>
            <a:ext cx="1904760" cy="337320"/>
          </a:xfrm>
          <a:prstGeom prst="rect">
            <a:avLst/>
          </a:prstGeom>
          <a:noFill/>
          <a:ln w="0">
            <a:noFill/>
          </a:ln>
        </p:spPr>
        <p:txBody>
          <a:bodyPr lIns="0" rIns="0" tIns="0" bIns="0" anchor="t">
            <a:noAutofit/>
          </a:bodyPr>
          <a:p>
            <a:pPr algn="ctr"/>
            <a:fld id="{3C34700F-B245-4A6D-8F15-02028CFC54D6}"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53" name=""/>
          <p:cNvSpPr txBox="1"/>
          <p:nvPr/>
        </p:nvSpPr>
        <p:spPr>
          <a:xfrm>
            <a:off x="571680" y="5600520"/>
            <a:ext cx="11086920" cy="846000"/>
          </a:xfrm>
          <a:prstGeom prst="rect">
            <a:avLst/>
          </a:prstGeom>
          <a:noFill/>
          <a:ln w="0">
            <a:noFill/>
          </a:ln>
        </p:spPr>
        <p:txBody>
          <a:bodyPr lIns="0" rIns="0" tIns="0" bIns="0" anchor="t">
            <a:noAutofit/>
          </a:bodyPr>
          <a:p>
            <a:r>
              <a:rPr b="0" lang="en-GB" sz="1600" spc="-1" strike="noStrike">
                <a:solidFill>
                  <a:srgbClr val="000000"/>
                </a:solidFill>
                <a:latin typeface="Times New Roman"/>
              </a:rPr>
              <a:t>In this screenshot we show the output values in the Serial Monitor. In order, there are the analog value converted to digital ADC=104; the output voltage ~509mV and the temperature sensor set to minimum requested at 0ºC.</a:t>
            </a:r>
            <a:endParaRPr b="0" lang="en-GB" sz="1600" spc="-1" strike="noStrike">
              <a:solidFill>
                <a:srgbClr val="000000"/>
              </a:solidFill>
              <a:latin typeface="Times New Roman"/>
            </a:endParaRPr>
          </a:p>
        </p:txBody>
      </p:sp>
      <p:sp>
        <p:nvSpPr>
          <p:cNvPr id="154"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55" name="" descr=""/>
          <p:cNvPicPr/>
          <p:nvPr/>
        </p:nvPicPr>
        <p:blipFill>
          <a:blip r:embed="rId2"/>
          <a:stretch/>
        </p:blipFill>
        <p:spPr>
          <a:xfrm>
            <a:off x="1385280" y="1377000"/>
            <a:ext cx="9587520" cy="410940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6" name="" descr=""/>
          <p:cNvPicPr/>
          <p:nvPr/>
        </p:nvPicPr>
        <p:blipFill>
          <a:blip r:embed="rId1"/>
          <a:stretch/>
        </p:blipFill>
        <p:spPr>
          <a:xfrm>
            <a:off x="0" y="0"/>
            <a:ext cx="12191760" cy="504360"/>
          </a:xfrm>
          <a:prstGeom prst="rect">
            <a:avLst/>
          </a:prstGeom>
          <a:ln w="0">
            <a:noFill/>
          </a:ln>
        </p:spPr>
      </p:pic>
      <p:sp>
        <p:nvSpPr>
          <p:cNvPr id="157"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58" name=""/>
          <p:cNvSpPr txBox="1"/>
          <p:nvPr/>
        </p:nvSpPr>
        <p:spPr>
          <a:xfrm>
            <a:off x="10287000" y="6520680"/>
            <a:ext cx="1904760" cy="337320"/>
          </a:xfrm>
          <a:prstGeom prst="rect">
            <a:avLst/>
          </a:prstGeom>
          <a:noFill/>
          <a:ln w="0">
            <a:noFill/>
          </a:ln>
        </p:spPr>
        <p:txBody>
          <a:bodyPr lIns="0" rIns="0" tIns="0" bIns="0" anchor="t">
            <a:noAutofit/>
          </a:bodyPr>
          <a:p>
            <a:pPr algn="ctr"/>
            <a:fld id="{D8FFF5A4-A7A7-4AAF-BC9C-7960C29875CB}"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59" name=""/>
          <p:cNvSpPr txBox="1"/>
          <p:nvPr/>
        </p:nvSpPr>
        <p:spPr>
          <a:xfrm>
            <a:off x="7277040" y="1828800"/>
            <a:ext cx="4724280" cy="422352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a:t>
            </a:r>
            <a:r>
              <a:rPr b="1" lang="en-GB" sz="1800" spc="-1" strike="noStrike">
                <a:solidFill>
                  <a:srgbClr val="000000"/>
                </a:solidFill>
                <a:latin typeface="Times New Roman"/>
              </a:rPr>
              <a:t>task 2.3</a:t>
            </a:r>
            <a:r>
              <a:rPr b="0" lang="en-GB" sz="1800" spc="-1" strike="noStrike">
                <a:solidFill>
                  <a:srgbClr val="000000"/>
                </a:solidFill>
                <a:latin typeface="Times New Roman"/>
              </a:rPr>
              <a:t>, we improve the initial code with one more function to convert the analog value to digital. Additionally, we are able to show the corresponding converted value to mV as the output on the Serial Monitor.</a:t>
            </a:r>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r>
              <a:rPr b="0" lang="en-GB" sz="1800" spc="-1" strike="noStrike">
                <a:solidFill>
                  <a:srgbClr val="000000"/>
                </a:solidFill>
                <a:latin typeface="Times New Roman"/>
              </a:rPr>
              <a:t>In the screenshot we show the main code used, specially to convert the values for </a:t>
            </a:r>
            <a:r>
              <a:rPr b="0" i="1" lang="en-GB" sz="1800" spc="-1" strike="noStrike">
                <a:solidFill>
                  <a:srgbClr val="000000"/>
                </a:solidFill>
                <a:latin typeface="Times New Roman"/>
              </a:rPr>
              <a:t>voltage </a:t>
            </a:r>
            <a:r>
              <a:rPr b="0" lang="en-GB" sz="1800" spc="-1" strike="noStrike">
                <a:solidFill>
                  <a:srgbClr val="000000"/>
                </a:solidFill>
                <a:latin typeface="Times New Roman"/>
              </a:rPr>
              <a:t>and </a:t>
            </a:r>
            <a:r>
              <a:rPr b="0" i="1" lang="en-GB" sz="1800" spc="-1" strike="noStrike">
                <a:solidFill>
                  <a:srgbClr val="000000"/>
                </a:solidFill>
                <a:latin typeface="Times New Roman"/>
              </a:rPr>
              <a:t>temperature.</a:t>
            </a:r>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p:txBody>
      </p:sp>
      <p:sp>
        <p:nvSpPr>
          <p:cNvPr id="160"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61" name="" descr=""/>
          <p:cNvPicPr/>
          <p:nvPr/>
        </p:nvPicPr>
        <p:blipFill>
          <a:blip r:embed="rId2"/>
          <a:stretch/>
        </p:blipFill>
        <p:spPr>
          <a:xfrm>
            <a:off x="87480" y="1757880"/>
            <a:ext cx="7113240" cy="327132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 descr=""/>
          <p:cNvPicPr/>
          <p:nvPr/>
        </p:nvPicPr>
        <p:blipFill>
          <a:blip r:embed="rId1"/>
          <a:stretch/>
        </p:blipFill>
        <p:spPr>
          <a:xfrm>
            <a:off x="0" y="0"/>
            <a:ext cx="12191760" cy="504360"/>
          </a:xfrm>
          <a:prstGeom prst="rect">
            <a:avLst/>
          </a:prstGeom>
          <a:ln w="0">
            <a:noFill/>
          </a:ln>
        </p:spPr>
      </p:pic>
      <p:sp>
        <p:nvSpPr>
          <p:cNvPr id="163"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64" name=""/>
          <p:cNvSpPr txBox="1"/>
          <p:nvPr/>
        </p:nvSpPr>
        <p:spPr>
          <a:xfrm>
            <a:off x="10287000" y="6520680"/>
            <a:ext cx="1904760" cy="337320"/>
          </a:xfrm>
          <a:prstGeom prst="rect">
            <a:avLst/>
          </a:prstGeom>
          <a:noFill/>
          <a:ln w="0">
            <a:noFill/>
          </a:ln>
        </p:spPr>
        <p:txBody>
          <a:bodyPr lIns="0" rIns="0" tIns="0" bIns="0" anchor="t">
            <a:noAutofit/>
          </a:bodyPr>
          <a:p>
            <a:pPr algn="ctr"/>
            <a:fld id="{86199650-F8DB-4351-A3AA-F2EDDBA5C8A8}"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65" name=""/>
          <p:cNvSpPr txBox="1"/>
          <p:nvPr/>
        </p:nvSpPr>
        <p:spPr>
          <a:xfrm>
            <a:off x="571320" y="5652000"/>
            <a:ext cx="11086920" cy="846000"/>
          </a:xfrm>
          <a:prstGeom prst="rect">
            <a:avLst/>
          </a:prstGeom>
          <a:noFill/>
          <a:ln w="0">
            <a:noFill/>
          </a:ln>
        </p:spPr>
        <p:txBody>
          <a:bodyPr lIns="0" rIns="0" tIns="0" bIns="0" anchor="t">
            <a:noAutofit/>
          </a:bodyPr>
          <a:p>
            <a:r>
              <a:rPr b="0" lang="en-GB" sz="1600" spc="-1" strike="noStrike">
                <a:solidFill>
                  <a:srgbClr val="000000"/>
                </a:solidFill>
                <a:latin typeface="Times New Roman"/>
              </a:rPr>
              <a:t>In this screenshot we show the output values in the Serial Monitor. In order, there are the analog value converted to digital ADC=225; the output voltage ~1100mV and the temperature sensor set to T2 requested at 59ºC.</a:t>
            </a:r>
            <a:endParaRPr b="0" lang="en-GB" sz="1600" spc="-1" strike="noStrike">
              <a:solidFill>
                <a:srgbClr val="000000"/>
              </a:solidFill>
              <a:latin typeface="Times New Roman"/>
            </a:endParaRPr>
          </a:p>
        </p:txBody>
      </p:sp>
      <p:sp>
        <p:nvSpPr>
          <p:cNvPr id="166"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67" name="" descr=""/>
          <p:cNvPicPr/>
          <p:nvPr/>
        </p:nvPicPr>
        <p:blipFill>
          <a:blip r:embed="rId2"/>
          <a:stretch/>
        </p:blipFill>
        <p:spPr>
          <a:xfrm>
            <a:off x="1279440" y="1392120"/>
            <a:ext cx="9807480" cy="386568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 descr=""/>
          <p:cNvPicPr/>
          <p:nvPr/>
        </p:nvPicPr>
        <p:blipFill>
          <a:blip r:embed="rId1"/>
          <a:stretch/>
        </p:blipFill>
        <p:spPr>
          <a:xfrm>
            <a:off x="0" y="0"/>
            <a:ext cx="12191760" cy="504360"/>
          </a:xfrm>
          <a:prstGeom prst="rect">
            <a:avLst/>
          </a:prstGeom>
          <a:ln w="0">
            <a:noFill/>
          </a:ln>
        </p:spPr>
      </p:pic>
      <p:sp>
        <p:nvSpPr>
          <p:cNvPr id="169"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70" name=""/>
          <p:cNvSpPr txBox="1"/>
          <p:nvPr/>
        </p:nvSpPr>
        <p:spPr>
          <a:xfrm>
            <a:off x="10287000" y="6520680"/>
            <a:ext cx="1904760" cy="337320"/>
          </a:xfrm>
          <a:prstGeom prst="rect">
            <a:avLst/>
          </a:prstGeom>
          <a:noFill/>
          <a:ln w="0">
            <a:noFill/>
          </a:ln>
        </p:spPr>
        <p:txBody>
          <a:bodyPr lIns="0" rIns="0" tIns="0" bIns="0" anchor="t">
            <a:noAutofit/>
          </a:bodyPr>
          <a:p>
            <a:pPr algn="ctr"/>
            <a:fld id="{3C59ADC4-59A1-4C57-AF53-D9F13412948A}"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71" name=""/>
          <p:cNvSpPr txBox="1"/>
          <p:nvPr/>
        </p:nvSpPr>
        <p:spPr>
          <a:xfrm>
            <a:off x="571320" y="5715000"/>
            <a:ext cx="11086920" cy="846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show the output values in the Serial Monitor. In order, there are the analog value converted to digital ADC=172; the output voltage ~839mV and the temperature sensor set to T1 requested at 34ºC.</a:t>
            </a:r>
            <a:endParaRPr b="0" lang="en-GB" sz="1800" spc="-1" strike="noStrike">
              <a:solidFill>
                <a:srgbClr val="000000"/>
              </a:solidFill>
              <a:latin typeface="Times New Roman"/>
            </a:endParaRPr>
          </a:p>
        </p:txBody>
      </p:sp>
      <p:sp>
        <p:nvSpPr>
          <p:cNvPr id="17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73" name="" descr=""/>
          <p:cNvPicPr/>
          <p:nvPr/>
        </p:nvPicPr>
        <p:blipFill>
          <a:blip r:embed="rId2"/>
          <a:stretch/>
        </p:blipFill>
        <p:spPr>
          <a:xfrm>
            <a:off x="1257120" y="1371600"/>
            <a:ext cx="9921600" cy="430704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 descr=""/>
          <p:cNvPicPr/>
          <p:nvPr/>
        </p:nvPicPr>
        <p:blipFill>
          <a:blip r:embed="rId1"/>
          <a:stretch/>
        </p:blipFill>
        <p:spPr>
          <a:xfrm>
            <a:off x="0" y="0"/>
            <a:ext cx="12191760" cy="504360"/>
          </a:xfrm>
          <a:prstGeom prst="rect">
            <a:avLst/>
          </a:prstGeom>
          <a:ln w="0">
            <a:noFill/>
          </a:ln>
        </p:spPr>
      </p:pic>
      <p:sp>
        <p:nvSpPr>
          <p:cNvPr id="175" name=""/>
          <p:cNvSpPr txBox="1"/>
          <p:nvPr/>
        </p:nvSpPr>
        <p:spPr>
          <a:xfrm>
            <a:off x="341280" y="840600"/>
            <a:ext cx="10288440" cy="128988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76" name=""/>
          <p:cNvSpPr txBox="1"/>
          <p:nvPr/>
        </p:nvSpPr>
        <p:spPr>
          <a:xfrm>
            <a:off x="10287000" y="6520680"/>
            <a:ext cx="1904760" cy="337320"/>
          </a:xfrm>
          <a:prstGeom prst="rect">
            <a:avLst/>
          </a:prstGeom>
          <a:noFill/>
          <a:ln w="0">
            <a:noFill/>
          </a:ln>
        </p:spPr>
        <p:txBody>
          <a:bodyPr lIns="0" rIns="0" tIns="0" bIns="0" anchor="t">
            <a:noAutofit/>
          </a:bodyPr>
          <a:p>
            <a:pPr algn="ctr"/>
            <a:fld id="{DEF24992-3973-4CE5-8623-8F4F1AB1987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77" name=""/>
          <p:cNvSpPr txBox="1"/>
          <p:nvPr/>
        </p:nvSpPr>
        <p:spPr>
          <a:xfrm>
            <a:off x="571320" y="5652000"/>
            <a:ext cx="11086920" cy="846000"/>
          </a:xfrm>
          <a:prstGeom prst="rect">
            <a:avLst/>
          </a:prstGeom>
          <a:noFill/>
          <a:ln w="0">
            <a:noFill/>
          </a:ln>
        </p:spPr>
        <p:txBody>
          <a:bodyPr lIns="0" rIns="0" tIns="0" bIns="0" anchor="t">
            <a:noAutofit/>
          </a:bodyPr>
          <a:p>
            <a:r>
              <a:rPr b="0" lang="en-GB" sz="1600" spc="-1" strike="noStrike">
                <a:solidFill>
                  <a:srgbClr val="000000"/>
                </a:solidFill>
                <a:latin typeface="Times New Roman"/>
              </a:rPr>
              <a:t>In this screenshot we show the output values in the Serial Monitor. In order, there are the analog value converted to digital ADC=266; the output voltage ~1300mV and the temperature sensor set to maximum requested at 80ºC.</a:t>
            </a:r>
            <a:endParaRPr b="0" lang="en-GB" sz="1600" spc="-1" strike="noStrike">
              <a:solidFill>
                <a:srgbClr val="000000"/>
              </a:solidFill>
              <a:latin typeface="Times New Roman"/>
            </a:endParaRPr>
          </a:p>
        </p:txBody>
      </p:sp>
      <p:sp>
        <p:nvSpPr>
          <p:cNvPr id="17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79" name="" descr=""/>
          <p:cNvPicPr/>
          <p:nvPr/>
        </p:nvPicPr>
        <p:blipFill>
          <a:blip r:embed="rId2"/>
          <a:stretch/>
        </p:blipFill>
        <p:spPr>
          <a:xfrm>
            <a:off x="1165320" y="1558440"/>
            <a:ext cx="10378800" cy="392796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 descr=""/>
          <p:cNvPicPr/>
          <p:nvPr/>
        </p:nvPicPr>
        <p:blipFill>
          <a:blip r:embed="rId1"/>
          <a:stretch/>
        </p:blipFill>
        <p:spPr>
          <a:xfrm>
            <a:off x="0" y="0"/>
            <a:ext cx="12191760" cy="504360"/>
          </a:xfrm>
          <a:prstGeom prst="rect">
            <a:avLst/>
          </a:prstGeom>
          <a:ln w="0">
            <a:noFill/>
          </a:ln>
        </p:spPr>
      </p:pic>
      <p:sp>
        <p:nvSpPr>
          <p:cNvPr id="181" name=""/>
          <p:cNvSpPr txBox="1"/>
          <p:nvPr/>
        </p:nvSpPr>
        <p:spPr>
          <a:xfrm>
            <a:off x="341280" y="840600"/>
            <a:ext cx="10288440" cy="53100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2. Programming the Arduino board</a:t>
            </a:r>
            <a:endParaRPr b="0" lang="en-GB" sz="2200" spc="-1" strike="noStrike">
              <a:solidFill>
                <a:srgbClr val="000000"/>
              </a:solidFill>
              <a:latin typeface="Times New Roman"/>
            </a:endParaRPr>
          </a:p>
        </p:txBody>
      </p:sp>
      <p:sp>
        <p:nvSpPr>
          <p:cNvPr id="182" name=""/>
          <p:cNvSpPr txBox="1"/>
          <p:nvPr/>
        </p:nvSpPr>
        <p:spPr>
          <a:xfrm>
            <a:off x="10287000" y="6520680"/>
            <a:ext cx="1904760" cy="337320"/>
          </a:xfrm>
          <a:prstGeom prst="rect">
            <a:avLst/>
          </a:prstGeom>
          <a:noFill/>
          <a:ln w="0">
            <a:noFill/>
          </a:ln>
        </p:spPr>
        <p:txBody>
          <a:bodyPr lIns="0" rIns="0" tIns="0" bIns="0" anchor="t">
            <a:noAutofit/>
          </a:bodyPr>
          <a:p>
            <a:pPr algn="ctr"/>
            <a:fld id="{5F984A5B-1D66-4E7A-BB7B-1E381621731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graphicFrame>
        <p:nvGraphicFramePr>
          <p:cNvPr id="183" name=""/>
          <p:cNvGraphicFramePr/>
          <p:nvPr/>
        </p:nvGraphicFramePr>
        <p:xfrm>
          <a:off x="904680" y="2012040"/>
          <a:ext cx="9436680" cy="2985120"/>
        </p:xfrm>
        <a:graphic>
          <a:graphicData uri="http://schemas.openxmlformats.org/drawingml/2006/table">
            <a:tbl>
              <a:tblPr/>
              <a:tblGrid>
                <a:gridCol w="2287080"/>
                <a:gridCol w="1342080"/>
                <a:gridCol w="1359360"/>
                <a:gridCol w="1399680"/>
                <a:gridCol w="1600920"/>
                <a:gridCol w="1447920"/>
              </a:tblGrid>
              <a:tr h="765000">
                <a:tc>
                  <a:txBody>
                    <a:bodyPr lIns="36000" rIns="36000" tIns="36000" bIns="36000" anchor="t">
                      <a:noAutofit/>
                    </a:bodyPr>
                    <a:p>
                      <a:endParaRPr b="0" lang="en-GB" sz="1800" spc="-1" strike="noStrike">
                        <a:solidFill>
                          <a:srgbClr val="ffffff"/>
                        </a:solidFill>
                        <a:latin typeface="Arial"/>
                      </a:endParaRPr>
                    </a:p>
                  </a:txBody>
                  <a:tcPr anchor="t"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T (ºC)</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Vout (V)</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ADC steps</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Vinadc (mV)</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2400" spc="-1" strike="noStrike">
                          <a:solidFill>
                            <a:srgbClr val="000000"/>
                          </a:solidFill>
                          <a:latin typeface="Times New Roman"/>
                        </a:rPr>
                        <a:t>Tarduino</a:t>
                      </a:r>
                      <a:endParaRPr b="1" lang="en-GB" sz="2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r>
              <a:tr h="541440">
                <a:tc>
                  <a:txBody>
                    <a:bodyPr lIns="36000" rIns="36000" tIns="36000" bIns="36000" anchor="ctr">
                      <a:noAutofit/>
                    </a:bodyPr>
                    <a:p>
                      <a:r>
                        <a:rPr b="0" lang="en-GB" sz="1800" spc="-1" strike="noStrike">
                          <a:solidFill>
                            <a:srgbClr val="000000"/>
                          </a:solidFill>
                          <a:latin typeface="Times New Roman"/>
                        </a:rPr>
                        <a:t>Minimum Temp. value</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0.0</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r>
              <a:tr h="541440">
                <a:tc>
                  <a:txBody>
                    <a:bodyPr lIns="36000" rIns="36000" tIns="36000" bIns="36000" anchor="ctr">
                      <a:noAutofit/>
                    </a:bodyPr>
                    <a:p>
                      <a:r>
                        <a:rPr b="0" lang="en-GB" sz="1800" spc="-1" strike="noStrike">
                          <a:solidFill>
                            <a:srgbClr val="000000"/>
                          </a:solidFill>
                          <a:latin typeface="Times New Roman"/>
                        </a:rPr>
                        <a:t>T1</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34ºC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2.13V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434</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2124mV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33.9</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541440">
                <a:tc>
                  <a:txBody>
                    <a:bodyPr lIns="36000" rIns="36000" tIns="36000" bIns="36000" anchor="ctr">
                      <a:noAutofit/>
                    </a:bodyPr>
                    <a:p>
                      <a:r>
                        <a:rPr b="0" lang="en-GB" sz="1800" spc="-1" strike="noStrike">
                          <a:solidFill>
                            <a:srgbClr val="000000"/>
                          </a:solidFill>
                          <a:latin typeface="Times New Roman"/>
                        </a:rPr>
                        <a:t>T2</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59ºC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3.69V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754</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3684mV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800" spc="-1" strike="noStrike">
                          <a:solidFill>
                            <a:srgbClr val="000000"/>
                          </a:solidFill>
                          <a:latin typeface="Times New Roman"/>
                        </a:rPr>
                        <a:t>58.9</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595800">
                <a:tc>
                  <a:txBody>
                    <a:bodyPr lIns="36000" rIns="36000" tIns="36000" bIns="36000" anchor="ctr">
                      <a:noAutofit/>
                    </a:bodyPr>
                    <a:p>
                      <a:r>
                        <a:rPr b="0" lang="en-GB" sz="1800" spc="-1" strike="noStrike">
                          <a:solidFill>
                            <a:srgbClr val="000000"/>
                          </a:solidFill>
                          <a:latin typeface="Times New Roman"/>
                        </a:rPr>
                        <a:t>Maximum Temp. value</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80ºC</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5.0V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1023</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5000mV</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800" spc="-1" strike="noStrike">
                          <a:solidFill>
                            <a:srgbClr val="000000"/>
                          </a:solidFill>
                          <a:latin typeface="Times New Roman"/>
                        </a:rPr>
                        <a:t>80.0</a:t>
                      </a:r>
                      <a:endParaRPr b="0" lang="en-GB" sz="18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
        <p:nvSpPr>
          <p:cNvPr id="184" name=""/>
          <p:cNvSpPr txBox="1"/>
          <p:nvPr/>
        </p:nvSpPr>
        <p:spPr>
          <a:xfrm>
            <a:off x="571320" y="5151240"/>
            <a:ext cx="10858680" cy="1478160"/>
          </a:xfrm>
          <a:prstGeom prst="rect">
            <a:avLst/>
          </a:prstGeom>
          <a:noFill/>
          <a:ln w="0">
            <a:noFill/>
          </a:ln>
        </p:spPr>
        <p:txBody>
          <a:bodyPr lIns="0" rIns="0" tIns="0" bIns="0" anchor="t">
            <a:noAutofit/>
          </a:bodyPr>
          <a:p>
            <a:r>
              <a:rPr b="1" lang="en-GB" sz="2000" spc="-1" strike="noStrike">
                <a:solidFill>
                  <a:srgbClr val="000000"/>
                </a:solidFill>
                <a:latin typeface="Times New Roman"/>
              </a:rPr>
              <a:t>Table IV – </a:t>
            </a:r>
            <a:r>
              <a:rPr b="0" lang="en-GB" sz="2000" spc="-1" strike="noStrike">
                <a:solidFill>
                  <a:srgbClr val="000000"/>
                </a:solidFill>
                <a:latin typeface="Times New Roman"/>
              </a:rPr>
              <a:t>It’s a final table if we set the power voltage with a minimum temperature range. 0ºC = 0V and 80ºC = 5V. The T1 and T2 are calculated to return the corresponding values for ADC steps and Vinadc.</a:t>
            </a:r>
            <a:endParaRPr b="0" lang="en-GB" sz="2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 descr=""/>
          <p:cNvPicPr/>
          <p:nvPr/>
        </p:nvPicPr>
        <p:blipFill>
          <a:blip r:embed="rId1"/>
          <a:stretch/>
        </p:blipFill>
        <p:spPr>
          <a:xfrm>
            <a:off x="0" y="0"/>
            <a:ext cx="12191760" cy="504360"/>
          </a:xfrm>
          <a:prstGeom prst="rect">
            <a:avLst/>
          </a:prstGeom>
          <a:ln w="0">
            <a:noFill/>
          </a:ln>
        </p:spPr>
      </p:pic>
      <p:sp>
        <p:nvSpPr>
          <p:cNvPr id="186"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187" name=""/>
          <p:cNvSpPr txBox="1"/>
          <p:nvPr/>
        </p:nvSpPr>
        <p:spPr>
          <a:xfrm>
            <a:off x="456120" y="1635120"/>
            <a:ext cx="8802000" cy="68004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1 – Schematics of a mixed signal circuit.</a:t>
            </a:r>
            <a:endParaRPr b="0" lang="en-GB" sz="2400" spc="-1" strike="noStrike">
              <a:solidFill>
                <a:srgbClr val="000000"/>
              </a:solidFill>
              <a:latin typeface="Times New Roman"/>
            </a:endParaRPr>
          </a:p>
        </p:txBody>
      </p:sp>
      <p:sp>
        <p:nvSpPr>
          <p:cNvPr id="188" name=""/>
          <p:cNvSpPr txBox="1"/>
          <p:nvPr/>
        </p:nvSpPr>
        <p:spPr>
          <a:xfrm>
            <a:off x="456120" y="2131200"/>
            <a:ext cx="606312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2 – Programming the Arduino board.</a:t>
            </a:r>
            <a:endParaRPr b="0" lang="en-GB" sz="2400" spc="-1" strike="noStrike">
              <a:solidFill>
                <a:srgbClr val="000000"/>
              </a:solidFill>
              <a:latin typeface="Times New Roman"/>
            </a:endParaRPr>
          </a:p>
        </p:txBody>
      </p:sp>
      <p:sp>
        <p:nvSpPr>
          <p:cNvPr id="189" name=""/>
          <p:cNvSpPr txBox="1"/>
          <p:nvPr/>
        </p:nvSpPr>
        <p:spPr>
          <a:xfrm>
            <a:off x="456120" y="2626920"/>
            <a:ext cx="5825520" cy="340200"/>
          </a:xfrm>
          <a:prstGeom prst="rect">
            <a:avLst/>
          </a:prstGeom>
          <a:noFill/>
          <a:ln w="0">
            <a:noFill/>
          </a:ln>
        </p:spPr>
        <p:txBody>
          <a:bodyPr lIns="0" rIns="0" tIns="0" bIns="0" anchor="t">
            <a:noAutofit/>
          </a:bodyPr>
          <a:p>
            <a:r>
              <a:rPr b="1" lang="en-GB" sz="2400" spc="-1" strike="noStrike">
                <a:solidFill>
                  <a:srgbClr val="90292a"/>
                </a:solidFill>
                <a:latin typeface="Arial"/>
                <a:ea typeface="Arial"/>
              </a:rPr>
              <a:t>►</a:t>
            </a:r>
            <a:r>
              <a:rPr b="1" lang="en-GB" sz="2400" spc="-1" strike="noStrike">
                <a:solidFill>
                  <a:srgbClr val="000000"/>
                </a:solidFill>
                <a:latin typeface="Arial"/>
                <a:ea typeface="Arial"/>
              </a:rPr>
              <a:t> </a:t>
            </a:r>
            <a:r>
              <a:rPr b="1" lang="en-GB" sz="2400" spc="-1" strike="noStrike">
                <a:solidFill>
                  <a:srgbClr val="000000"/>
                </a:solidFill>
                <a:latin typeface="Arial"/>
                <a:ea typeface="Arial"/>
              </a:rPr>
              <a:t>Task 3 – Introducing the LCD display.</a:t>
            </a:r>
            <a:endParaRPr b="0" lang="en-GB" sz="2400" spc="-1" strike="noStrike">
              <a:solidFill>
                <a:srgbClr val="000000"/>
              </a:solidFill>
              <a:latin typeface="Times New Roman"/>
            </a:endParaRPr>
          </a:p>
        </p:txBody>
      </p:sp>
      <p:sp>
        <p:nvSpPr>
          <p:cNvPr id="190" name=""/>
          <p:cNvSpPr txBox="1"/>
          <p:nvPr/>
        </p:nvSpPr>
        <p:spPr>
          <a:xfrm>
            <a:off x="456120" y="3113640"/>
            <a:ext cx="430056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4 – Conditioning circuit.</a:t>
            </a:r>
            <a:endParaRPr b="0" lang="en-GB" sz="2400" spc="-1" strike="noStrike">
              <a:solidFill>
                <a:srgbClr val="000000"/>
              </a:solidFill>
              <a:latin typeface="Times New Roman"/>
            </a:endParaRPr>
          </a:p>
        </p:txBody>
      </p:sp>
      <p:sp>
        <p:nvSpPr>
          <p:cNvPr id="191" name=""/>
          <p:cNvSpPr txBox="1"/>
          <p:nvPr/>
        </p:nvSpPr>
        <p:spPr>
          <a:xfrm>
            <a:off x="9829800" y="6520680"/>
            <a:ext cx="2338920" cy="337320"/>
          </a:xfrm>
          <a:prstGeom prst="rect">
            <a:avLst/>
          </a:prstGeom>
          <a:noFill/>
          <a:ln w="0">
            <a:noFill/>
          </a:ln>
        </p:spPr>
        <p:txBody>
          <a:bodyPr lIns="0" rIns="0" tIns="0" bIns="0" anchor="t">
            <a:noAutofit/>
          </a:bodyPr>
          <a:p>
            <a:pPr algn="ctr"/>
            <a:fld id="{12142288-0F92-4B33-A661-4F07C5671088}"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92" name=""/>
          <p:cNvSpPr txBox="1"/>
          <p:nvPr/>
        </p:nvSpPr>
        <p:spPr>
          <a:xfrm>
            <a:off x="457200" y="3582000"/>
            <a:ext cx="274248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3" name="" descr=""/>
          <p:cNvPicPr/>
          <p:nvPr/>
        </p:nvPicPr>
        <p:blipFill>
          <a:blip r:embed="rId1"/>
          <a:stretch/>
        </p:blipFill>
        <p:spPr>
          <a:xfrm>
            <a:off x="0" y="0"/>
            <a:ext cx="12191760" cy="504360"/>
          </a:xfrm>
          <a:prstGeom prst="rect">
            <a:avLst/>
          </a:prstGeom>
          <a:ln w="0">
            <a:noFill/>
          </a:ln>
        </p:spPr>
      </p:pic>
      <p:sp>
        <p:nvSpPr>
          <p:cNvPr id="194"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195" name=""/>
          <p:cNvSpPr txBox="1"/>
          <p:nvPr/>
        </p:nvSpPr>
        <p:spPr>
          <a:xfrm>
            <a:off x="10287000" y="6520680"/>
            <a:ext cx="1904760" cy="337320"/>
          </a:xfrm>
          <a:prstGeom prst="rect">
            <a:avLst/>
          </a:prstGeom>
          <a:noFill/>
          <a:ln w="0">
            <a:noFill/>
          </a:ln>
        </p:spPr>
        <p:txBody>
          <a:bodyPr lIns="0" rIns="0" tIns="0" bIns="0" anchor="t">
            <a:noAutofit/>
          </a:bodyPr>
          <a:p>
            <a:pPr algn="ctr"/>
            <a:fld id="{2A26E2DA-2574-4DC6-B59F-46D51F0CDBF2}"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196" name=""/>
          <p:cNvSpPr txBox="1"/>
          <p:nvPr/>
        </p:nvSpPr>
        <p:spPr>
          <a:xfrm>
            <a:off x="7048440" y="1389240"/>
            <a:ext cx="4724280" cy="5125680"/>
          </a:xfrm>
          <a:prstGeom prst="rect">
            <a:avLst/>
          </a:prstGeom>
          <a:noFill/>
          <a:ln w="0">
            <a:noFill/>
          </a:ln>
        </p:spPr>
        <p:txBody>
          <a:bodyPr lIns="0" rIns="0" tIns="0" bIns="0" anchor="t">
            <a:noAutofit/>
          </a:bodyPr>
          <a:p>
            <a:r>
              <a:rPr b="0" lang="en-GB" sz="1600" spc="-1" strike="noStrike">
                <a:solidFill>
                  <a:srgbClr val="000000"/>
                </a:solidFill>
                <a:latin typeface="Times New Roman"/>
              </a:rPr>
              <a:t>In the </a:t>
            </a:r>
            <a:r>
              <a:rPr b="1" lang="en-GB" sz="1600" spc="-1" strike="noStrike">
                <a:solidFill>
                  <a:srgbClr val="000000"/>
                </a:solidFill>
                <a:latin typeface="Times New Roman"/>
              </a:rPr>
              <a:t>task 3.1</a:t>
            </a:r>
            <a:r>
              <a:rPr b="0" lang="en-GB" sz="1600" spc="-1" strike="noStrike">
                <a:solidFill>
                  <a:srgbClr val="000000"/>
                </a:solidFill>
                <a:latin typeface="Times New Roman"/>
              </a:rPr>
              <a:t>, we design a circuit to connect a potentiometer and a 16x2 LCD display. The following components are used to achieve it:</a:t>
            </a:r>
            <a:endParaRPr b="0" lang="en-GB" sz="1600" spc="-1" strike="noStrike">
              <a:solidFill>
                <a:srgbClr val="000000"/>
              </a:solidFill>
              <a:latin typeface="Times New Roman"/>
            </a:endParaRPr>
          </a:p>
          <a:p>
            <a:r>
              <a:rPr b="0" lang="en-GB" sz="1600" spc="-1" strike="noStrike">
                <a:solidFill>
                  <a:srgbClr val="000000"/>
                </a:solidFill>
                <a:latin typeface="Times New Roman"/>
              </a:rPr>
              <a:t>- 1x Arduino UNO board;</a:t>
            </a:r>
            <a:endParaRPr b="0" lang="en-GB" sz="1600" spc="-1" strike="noStrike">
              <a:solidFill>
                <a:srgbClr val="000000"/>
              </a:solidFill>
              <a:latin typeface="Times New Roman"/>
            </a:endParaRPr>
          </a:p>
          <a:p>
            <a:r>
              <a:rPr b="0" lang="en-GB" sz="1600" spc="-1" strike="noStrike">
                <a:solidFill>
                  <a:srgbClr val="000000"/>
                </a:solidFill>
                <a:latin typeface="Times New Roman"/>
              </a:rPr>
              <a:t>- 1x breadboard small;</a:t>
            </a:r>
            <a:endParaRPr b="0" lang="en-GB" sz="1600" spc="-1" strike="noStrike">
              <a:solidFill>
                <a:srgbClr val="000000"/>
              </a:solidFill>
              <a:latin typeface="Times New Roman"/>
            </a:endParaRPr>
          </a:p>
          <a:p>
            <a:r>
              <a:rPr b="0" lang="en-GB" sz="1600" spc="-1" strike="noStrike">
                <a:solidFill>
                  <a:srgbClr val="000000"/>
                </a:solidFill>
                <a:latin typeface="Times New Roman"/>
              </a:rPr>
              <a:t>- 1x 16x2 LCD display;</a:t>
            </a:r>
            <a:endParaRPr b="0" lang="en-GB" sz="1600" spc="-1" strike="noStrike">
              <a:solidFill>
                <a:srgbClr val="000000"/>
              </a:solidFill>
              <a:latin typeface="Times New Roman"/>
            </a:endParaRPr>
          </a:p>
          <a:p>
            <a:r>
              <a:rPr b="0" lang="en-GB" sz="1600" spc="-1" strike="noStrike">
                <a:solidFill>
                  <a:srgbClr val="000000"/>
                </a:solidFill>
                <a:latin typeface="Times New Roman"/>
              </a:rPr>
              <a:t>- 1x potentiometer configured at 10kΩ;</a:t>
            </a:r>
            <a:endParaRPr b="0" lang="en-GB" sz="1600" spc="-1" strike="noStrike">
              <a:solidFill>
                <a:srgbClr val="000000"/>
              </a:solidFill>
              <a:latin typeface="Times New Roman"/>
            </a:endParaRPr>
          </a:p>
          <a:p>
            <a:r>
              <a:rPr b="0" lang="en-GB" sz="1600" spc="-1" strike="noStrike">
                <a:solidFill>
                  <a:srgbClr val="000000"/>
                </a:solidFill>
                <a:latin typeface="Times New Roman"/>
              </a:rPr>
              <a:t>- 1x resistor with value at 220Ω;</a:t>
            </a:r>
            <a:endParaRPr b="0" lang="en-GB" sz="1600" spc="-1" strike="noStrike">
              <a:solidFill>
                <a:srgbClr val="000000"/>
              </a:solidFill>
              <a:latin typeface="Times New Roman"/>
            </a:endParaRPr>
          </a:p>
          <a:p>
            <a:r>
              <a:rPr b="0" lang="en-GB" sz="1600" spc="-1" strike="noStrike">
                <a:solidFill>
                  <a:srgbClr val="000000"/>
                </a:solidFill>
                <a:latin typeface="Times New Roman"/>
              </a:rPr>
              <a:t>- red wire to supply 5V; black wire at ground; pink and purple wires to connect the LCD display.</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In the next two slides we are going to show the schematic view to understand how connect each pin between Arduino and LCD display. And the others, show the code used, import LCD display function from Arduino library.</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p:txBody>
      </p:sp>
      <p:sp>
        <p:nvSpPr>
          <p:cNvPr id="197"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198" name="" descr=""/>
          <p:cNvPicPr/>
          <p:nvPr/>
        </p:nvPicPr>
        <p:blipFill>
          <a:blip r:embed="rId2"/>
          <a:stretch/>
        </p:blipFill>
        <p:spPr>
          <a:xfrm>
            <a:off x="571320" y="1461240"/>
            <a:ext cx="5829480" cy="47109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 descr=""/>
          <p:cNvPicPr/>
          <p:nvPr/>
        </p:nvPicPr>
        <p:blipFill>
          <a:blip r:embed="rId1"/>
          <a:stretch/>
        </p:blipFill>
        <p:spPr>
          <a:xfrm>
            <a:off x="0" y="0"/>
            <a:ext cx="12191760" cy="504360"/>
          </a:xfrm>
          <a:prstGeom prst="rect">
            <a:avLst/>
          </a:prstGeom>
          <a:ln w="0">
            <a:noFill/>
          </a:ln>
        </p:spPr>
      </p:pic>
      <p:sp>
        <p:nvSpPr>
          <p:cNvPr id="200"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01" name=""/>
          <p:cNvSpPr txBox="1"/>
          <p:nvPr/>
        </p:nvSpPr>
        <p:spPr>
          <a:xfrm>
            <a:off x="10287000" y="6520680"/>
            <a:ext cx="1904760" cy="337320"/>
          </a:xfrm>
          <a:prstGeom prst="rect">
            <a:avLst/>
          </a:prstGeom>
          <a:noFill/>
          <a:ln w="0">
            <a:noFill/>
          </a:ln>
        </p:spPr>
        <p:txBody>
          <a:bodyPr lIns="0" rIns="0" tIns="0" bIns="0" anchor="t">
            <a:noAutofit/>
          </a:bodyPr>
          <a:p>
            <a:pPr algn="ctr"/>
            <a:fld id="{25B1F355-8742-43DF-88DE-659CE867D0AD}"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0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203" name="" descr=""/>
          <p:cNvPicPr/>
          <p:nvPr/>
        </p:nvPicPr>
        <p:blipFill>
          <a:blip r:embed="rId2"/>
          <a:stretch/>
        </p:blipFill>
        <p:spPr>
          <a:xfrm>
            <a:off x="308160" y="1257120"/>
            <a:ext cx="6654600" cy="5143680"/>
          </a:xfrm>
          <a:prstGeom prst="rect">
            <a:avLst/>
          </a:prstGeom>
          <a:ln w="0">
            <a:noFill/>
          </a:ln>
        </p:spPr>
      </p:pic>
      <p:sp>
        <p:nvSpPr>
          <p:cNvPr id="204" name=""/>
          <p:cNvSpPr txBox="1"/>
          <p:nvPr/>
        </p:nvSpPr>
        <p:spPr>
          <a:xfrm>
            <a:off x="6972120" y="2236680"/>
            <a:ext cx="5029200" cy="1763640"/>
          </a:xfrm>
          <a:prstGeom prst="rect">
            <a:avLst/>
          </a:prstGeom>
          <a:noFill/>
          <a:ln w="0">
            <a:noFill/>
          </a:ln>
        </p:spPr>
        <p:txBody>
          <a:bodyPr lIns="0" rIns="0" tIns="0" bIns="0" anchor="t">
            <a:noAutofit/>
          </a:bodyPr>
          <a:p>
            <a:r>
              <a:rPr b="0" lang="en-GB" sz="1800" spc="-1" strike="noStrike">
                <a:solidFill>
                  <a:srgbClr val="000000"/>
                </a:solidFill>
                <a:latin typeface="Times New Roman"/>
              </a:rPr>
              <a:t>The screenshot shows the schematic view of Arduino UNO, LCD display, resistor and the potentiometer connected all together.</a:t>
            </a:r>
            <a:endParaRPr b="0" lang="en-GB" sz="1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5" name="" descr=""/>
          <p:cNvPicPr/>
          <p:nvPr/>
        </p:nvPicPr>
        <p:blipFill>
          <a:blip r:embed="rId1"/>
          <a:stretch/>
        </p:blipFill>
        <p:spPr>
          <a:xfrm>
            <a:off x="0" y="0"/>
            <a:ext cx="12191760" cy="504360"/>
          </a:xfrm>
          <a:prstGeom prst="rect">
            <a:avLst/>
          </a:prstGeom>
          <a:ln w="0">
            <a:noFill/>
          </a:ln>
        </p:spPr>
      </p:pic>
      <p:sp>
        <p:nvSpPr>
          <p:cNvPr id="206"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07" name=""/>
          <p:cNvSpPr txBox="1"/>
          <p:nvPr/>
        </p:nvSpPr>
        <p:spPr>
          <a:xfrm>
            <a:off x="10287000" y="6520680"/>
            <a:ext cx="1904760" cy="337320"/>
          </a:xfrm>
          <a:prstGeom prst="rect">
            <a:avLst/>
          </a:prstGeom>
          <a:noFill/>
          <a:ln w="0">
            <a:noFill/>
          </a:ln>
        </p:spPr>
        <p:txBody>
          <a:bodyPr lIns="0" rIns="0" tIns="0" bIns="0" anchor="t">
            <a:noAutofit/>
          </a:bodyPr>
          <a:p>
            <a:pPr algn="ctr"/>
            <a:fld id="{C03474BC-B10C-437C-B0A9-B51E616FE568}"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0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209" name="" descr=""/>
          <p:cNvPicPr/>
          <p:nvPr/>
        </p:nvPicPr>
        <p:blipFill>
          <a:blip r:embed="rId2"/>
          <a:stretch/>
        </p:blipFill>
        <p:spPr>
          <a:xfrm>
            <a:off x="2057400" y="1370880"/>
            <a:ext cx="8686800" cy="502992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 descr=""/>
          <p:cNvPicPr/>
          <p:nvPr/>
        </p:nvPicPr>
        <p:blipFill>
          <a:blip r:embed="rId1"/>
          <a:stretch/>
        </p:blipFill>
        <p:spPr>
          <a:xfrm>
            <a:off x="0" y="0"/>
            <a:ext cx="12191760" cy="504360"/>
          </a:xfrm>
          <a:prstGeom prst="rect">
            <a:avLst/>
          </a:prstGeom>
          <a:ln w="0">
            <a:noFill/>
          </a:ln>
        </p:spPr>
      </p:pic>
      <p:sp>
        <p:nvSpPr>
          <p:cNvPr id="211"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12" name=""/>
          <p:cNvSpPr txBox="1"/>
          <p:nvPr/>
        </p:nvSpPr>
        <p:spPr>
          <a:xfrm>
            <a:off x="10287000" y="6520680"/>
            <a:ext cx="1904760" cy="337320"/>
          </a:xfrm>
          <a:prstGeom prst="rect">
            <a:avLst/>
          </a:prstGeom>
          <a:noFill/>
          <a:ln w="0">
            <a:noFill/>
          </a:ln>
        </p:spPr>
        <p:txBody>
          <a:bodyPr lIns="0" rIns="0" tIns="0" bIns="0" anchor="t">
            <a:noAutofit/>
          </a:bodyPr>
          <a:p>
            <a:pPr algn="ctr"/>
            <a:fld id="{1958BC48-AA3A-4B27-A9D1-4DCEC7DD58DF}"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13"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214" name="" descr=""/>
          <p:cNvPicPr/>
          <p:nvPr/>
        </p:nvPicPr>
        <p:blipFill>
          <a:blip r:embed="rId2"/>
          <a:stretch/>
        </p:blipFill>
        <p:spPr>
          <a:xfrm>
            <a:off x="373680" y="1371600"/>
            <a:ext cx="6141240" cy="5088240"/>
          </a:xfrm>
          <a:prstGeom prst="rect">
            <a:avLst/>
          </a:prstGeom>
          <a:ln w="0">
            <a:noFill/>
          </a:ln>
        </p:spPr>
      </p:pic>
      <p:sp>
        <p:nvSpPr>
          <p:cNvPr id="215" name=""/>
          <p:cNvSpPr txBox="1"/>
          <p:nvPr/>
        </p:nvSpPr>
        <p:spPr>
          <a:xfrm>
            <a:off x="6858000" y="1371600"/>
            <a:ext cx="4724280" cy="4584600"/>
          </a:xfrm>
          <a:prstGeom prst="rect">
            <a:avLst/>
          </a:prstGeom>
          <a:noFill/>
          <a:ln w="0">
            <a:noFill/>
          </a:ln>
        </p:spPr>
        <p:txBody>
          <a:bodyPr lIns="0" rIns="0" tIns="0" bIns="0" anchor="t">
            <a:noAutofit/>
          </a:bodyPr>
          <a:p>
            <a:r>
              <a:rPr b="0" lang="en-GB" sz="1600" spc="-1" strike="noStrike">
                <a:solidFill>
                  <a:srgbClr val="000000"/>
                </a:solidFill>
                <a:latin typeface="Times New Roman"/>
              </a:rPr>
              <a:t>That task help us to understand how potentiometer affects directly over LCD Display. In fact, if we turn down the potentiometer, the range is 5V to 0V, it means less voltage, the display fade out the output text until disappear completely. </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In the next task, we will interact with the temperature sensor and show the values related on the LCD display. </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Following the first instructions, we need to adapt the circuit design and the code to get analog temperature, convert in digital value and show in the only two rows on the LCD display instead of Serial Monitor only.</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 descr=""/>
          <p:cNvPicPr/>
          <p:nvPr/>
        </p:nvPicPr>
        <p:blipFill>
          <a:blip r:embed="rId1"/>
          <a:stretch/>
        </p:blipFill>
        <p:spPr>
          <a:xfrm>
            <a:off x="0" y="0"/>
            <a:ext cx="12191760" cy="504360"/>
          </a:xfrm>
          <a:prstGeom prst="rect">
            <a:avLst/>
          </a:prstGeom>
          <a:ln w="0">
            <a:noFill/>
          </a:ln>
        </p:spPr>
      </p:pic>
      <p:sp>
        <p:nvSpPr>
          <p:cNvPr id="217"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18" name=""/>
          <p:cNvSpPr txBox="1"/>
          <p:nvPr/>
        </p:nvSpPr>
        <p:spPr>
          <a:xfrm>
            <a:off x="10287000" y="6520680"/>
            <a:ext cx="1904760" cy="337320"/>
          </a:xfrm>
          <a:prstGeom prst="rect">
            <a:avLst/>
          </a:prstGeom>
          <a:noFill/>
          <a:ln w="0">
            <a:noFill/>
          </a:ln>
        </p:spPr>
        <p:txBody>
          <a:bodyPr lIns="0" rIns="0" tIns="0" bIns="0" anchor="t">
            <a:noAutofit/>
          </a:bodyPr>
          <a:p>
            <a:pPr algn="ctr"/>
            <a:fld id="{6CDEC6A8-8A1E-4D9D-A817-75E1DDD5A32C}"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19"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20" name=""/>
          <p:cNvSpPr txBox="1"/>
          <p:nvPr/>
        </p:nvSpPr>
        <p:spPr>
          <a:xfrm>
            <a:off x="8648640" y="1600200"/>
            <a:ext cx="3238560" cy="3543480"/>
          </a:xfrm>
          <a:prstGeom prst="rect">
            <a:avLst/>
          </a:prstGeom>
          <a:noFill/>
          <a:ln w="0">
            <a:noFill/>
          </a:ln>
        </p:spPr>
        <p:txBody>
          <a:bodyPr lIns="0" rIns="0" tIns="0" bIns="0" anchor="t">
            <a:noAutofit/>
          </a:bodyPr>
          <a:p>
            <a:r>
              <a:rPr b="0" lang="en-GB" sz="1600" spc="-1" strike="noStrike">
                <a:solidFill>
                  <a:srgbClr val="000000"/>
                </a:solidFill>
                <a:latin typeface="Times New Roman"/>
              </a:rPr>
              <a:t>In the </a:t>
            </a:r>
            <a:r>
              <a:rPr b="1" lang="en-GB" sz="1600" spc="-1" strike="noStrike">
                <a:solidFill>
                  <a:srgbClr val="000000"/>
                </a:solidFill>
                <a:latin typeface="Times New Roman"/>
              </a:rPr>
              <a:t>task 3.2 </a:t>
            </a:r>
            <a:r>
              <a:rPr b="0" lang="en-GB" sz="1600" spc="-1" strike="noStrike">
                <a:solidFill>
                  <a:srgbClr val="000000"/>
                </a:solidFill>
                <a:latin typeface="Times New Roman"/>
              </a:rPr>
              <a:t>we adapt the code to prepare the breadboard to join the temperature sensor and the LCD Display with welcoming message.</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Then, we join the first task made before, with the temperature sensor in the left side and combine the code at once to show the values on LCD display instead on the Serial Monitor.</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In this screenshot, we show the first adaption of the code.</a:t>
            </a:r>
            <a:endParaRPr b="0" lang="en-GB" sz="1600" spc="-1" strike="noStrike">
              <a:solidFill>
                <a:srgbClr val="000000"/>
              </a:solidFill>
              <a:latin typeface="Times New Roman"/>
            </a:endParaRPr>
          </a:p>
        </p:txBody>
      </p:sp>
      <p:pic>
        <p:nvPicPr>
          <p:cNvPr id="221" name="" descr=""/>
          <p:cNvPicPr/>
          <p:nvPr/>
        </p:nvPicPr>
        <p:blipFill>
          <a:blip r:embed="rId2"/>
          <a:stretch/>
        </p:blipFill>
        <p:spPr>
          <a:xfrm>
            <a:off x="114120" y="1600200"/>
            <a:ext cx="8344080" cy="39877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2" name="" descr=""/>
          <p:cNvPicPr/>
          <p:nvPr/>
        </p:nvPicPr>
        <p:blipFill>
          <a:blip r:embed="rId1"/>
          <a:stretch/>
        </p:blipFill>
        <p:spPr>
          <a:xfrm>
            <a:off x="0" y="0"/>
            <a:ext cx="12191760" cy="504360"/>
          </a:xfrm>
          <a:prstGeom prst="rect">
            <a:avLst/>
          </a:prstGeom>
          <a:ln w="0">
            <a:noFill/>
          </a:ln>
        </p:spPr>
      </p:pic>
      <p:sp>
        <p:nvSpPr>
          <p:cNvPr id="223"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24" name=""/>
          <p:cNvSpPr txBox="1"/>
          <p:nvPr/>
        </p:nvSpPr>
        <p:spPr>
          <a:xfrm>
            <a:off x="10287000" y="6520680"/>
            <a:ext cx="1904760" cy="337320"/>
          </a:xfrm>
          <a:prstGeom prst="rect">
            <a:avLst/>
          </a:prstGeom>
          <a:noFill/>
          <a:ln w="0">
            <a:noFill/>
          </a:ln>
        </p:spPr>
        <p:txBody>
          <a:bodyPr lIns="0" rIns="0" tIns="0" bIns="0" anchor="t">
            <a:noAutofit/>
          </a:bodyPr>
          <a:p>
            <a:pPr algn="ctr"/>
            <a:fld id="{72FE0507-AEDF-4DA6-B35F-41C6090A6ED4}"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25"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26" name=""/>
          <p:cNvSpPr txBox="1"/>
          <p:nvPr/>
        </p:nvSpPr>
        <p:spPr>
          <a:xfrm>
            <a:off x="876240" y="5715000"/>
            <a:ext cx="10210680" cy="686160"/>
          </a:xfrm>
          <a:prstGeom prst="rect">
            <a:avLst/>
          </a:prstGeom>
          <a:noFill/>
          <a:ln w="0">
            <a:noFill/>
          </a:ln>
        </p:spPr>
        <p:txBody>
          <a:bodyPr lIns="0" rIns="0" tIns="0" bIns="0" anchor="t">
            <a:noAutofit/>
          </a:bodyPr>
          <a:p>
            <a:r>
              <a:rPr b="0" lang="en-GB" sz="1600" spc="-1" strike="noStrike">
                <a:solidFill>
                  <a:srgbClr val="000000"/>
                </a:solidFill>
                <a:latin typeface="Times New Roman"/>
              </a:rPr>
              <a:t>Finally, the </a:t>
            </a:r>
            <a:r>
              <a:rPr b="1" lang="en-GB" sz="1600" spc="-1" strike="noStrike">
                <a:solidFill>
                  <a:srgbClr val="000000"/>
                </a:solidFill>
                <a:latin typeface="Times New Roman"/>
              </a:rPr>
              <a:t>task 3.3</a:t>
            </a:r>
            <a:r>
              <a:rPr b="0" lang="en-GB" sz="1600" spc="-1" strike="noStrike">
                <a:solidFill>
                  <a:srgbClr val="000000"/>
                </a:solidFill>
                <a:latin typeface="Times New Roman"/>
              </a:rPr>
              <a:t> shows the values ADC; mV and T directly on LCD display instead on the Serial Monitor.</a:t>
            </a:r>
            <a:endParaRPr b="0" lang="en-GB" sz="1600" spc="-1" strike="noStrike">
              <a:solidFill>
                <a:srgbClr val="000000"/>
              </a:solidFill>
              <a:latin typeface="Times New Roman"/>
            </a:endParaRPr>
          </a:p>
          <a:p>
            <a:r>
              <a:rPr b="0" lang="en-GB" sz="1600" spc="-1" strike="noStrike">
                <a:solidFill>
                  <a:srgbClr val="000000"/>
                </a:solidFill>
                <a:latin typeface="Times New Roman"/>
              </a:rPr>
              <a:t>In the next slide we will show the final schematic view and the code used to achieve this task.</a:t>
            </a:r>
            <a:endParaRPr b="0" lang="en-GB" sz="1600" spc="-1" strike="noStrike">
              <a:solidFill>
                <a:srgbClr val="000000"/>
              </a:solidFill>
              <a:latin typeface="Times New Roman"/>
            </a:endParaRPr>
          </a:p>
        </p:txBody>
      </p:sp>
      <p:pic>
        <p:nvPicPr>
          <p:cNvPr id="227" name="" descr=""/>
          <p:cNvPicPr/>
          <p:nvPr/>
        </p:nvPicPr>
        <p:blipFill>
          <a:blip r:embed="rId2"/>
          <a:stretch/>
        </p:blipFill>
        <p:spPr>
          <a:xfrm>
            <a:off x="2147400" y="1175400"/>
            <a:ext cx="7911000" cy="442512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8" name="" descr=""/>
          <p:cNvPicPr/>
          <p:nvPr/>
        </p:nvPicPr>
        <p:blipFill>
          <a:blip r:embed="rId1"/>
          <a:stretch/>
        </p:blipFill>
        <p:spPr>
          <a:xfrm>
            <a:off x="0" y="0"/>
            <a:ext cx="12191760" cy="504360"/>
          </a:xfrm>
          <a:prstGeom prst="rect">
            <a:avLst/>
          </a:prstGeom>
          <a:ln w="0">
            <a:noFill/>
          </a:ln>
        </p:spPr>
      </p:pic>
      <p:sp>
        <p:nvSpPr>
          <p:cNvPr id="229"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30" name=""/>
          <p:cNvSpPr txBox="1"/>
          <p:nvPr/>
        </p:nvSpPr>
        <p:spPr>
          <a:xfrm>
            <a:off x="10287000" y="6520680"/>
            <a:ext cx="1904760" cy="337320"/>
          </a:xfrm>
          <a:prstGeom prst="rect">
            <a:avLst/>
          </a:prstGeom>
          <a:noFill/>
          <a:ln w="0">
            <a:noFill/>
          </a:ln>
        </p:spPr>
        <p:txBody>
          <a:bodyPr lIns="0" rIns="0" tIns="0" bIns="0" anchor="t">
            <a:noAutofit/>
          </a:bodyPr>
          <a:p>
            <a:pPr algn="ctr"/>
            <a:fld id="{D32E6A11-BF5A-4727-AEDE-F41AA2F25166}"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31"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32" name=""/>
          <p:cNvSpPr txBox="1"/>
          <p:nvPr/>
        </p:nvSpPr>
        <p:spPr>
          <a:xfrm>
            <a:off x="114120" y="5600520"/>
            <a:ext cx="12153960" cy="686160"/>
          </a:xfrm>
          <a:prstGeom prst="rect">
            <a:avLst/>
          </a:prstGeom>
          <a:noFill/>
          <a:ln w="0">
            <a:noFill/>
          </a:ln>
        </p:spPr>
        <p:txBody>
          <a:bodyPr lIns="0" rIns="0" tIns="0" bIns="0" anchor="t">
            <a:noAutofit/>
          </a:bodyPr>
          <a:p>
            <a:r>
              <a:rPr b="0" lang="en-GB" sz="1800" spc="-1" strike="noStrike">
                <a:solidFill>
                  <a:srgbClr val="000000"/>
                </a:solidFill>
                <a:latin typeface="Times New Roman"/>
              </a:rPr>
              <a:t>In this screenshot we join the first part, the temperature sensor shown in the task 2, and the right side with the LCD display.</a:t>
            </a:r>
            <a:endParaRPr b="0" lang="en-GB" sz="1800" spc="-1" strike="noStrike">
              <a:solidFill>
                <a:srgbClr val="000000"/>
              </a:solidFill>
              <a:latin typeface="Times New Roman"/>
            </a:endParaRPr>
          </a:p>
          <a:p>
            <a:r>
              <a:rPr b="0" lang="en-GB" sz="1800" spc="-1" strike="noStrike">
                <a:solidFill>
                  <a:srgbClr val="000000"/>
                </a:solidFill>
                <a:latin typeface="Times New Roman"/>
              </a:rPr>
              <a:t>In the next task 3.3 we will adapt the code by the function </a:t>
            </a:r>
            <a:r>
              <a:rPr b="1" lang="en-GB" sz="1800" spc="-1" strike="noStrike">
                <a:solidFill>
                  <a:srgbClr val="000000"/>
                </a:solidFill>
                <a:latin typeface="Times New Roman"/>
              </a:rPr>
              <a:t>calculateTvalues() </a:t>
            </a:r>
            <a:r>
              <a:rPr b="0" lang="en-GB" sz="1800" spc="-1" strike="noStrike">
                <a:solidFill>
                  <a:srgbClr val="000000"/>
                </a:solidFill>
                <a:latin typeface="Times New Roman"/>
              </a:rPr>
              <a:t>and send those values in the new function </a:t>
            </a:r>
            <a:r>
              <a:rPr b="1" lang="en-GB" sz="1800" spc="-1" strike="noStrike">
                <a:solidFill>
                  <a:srgbClr val="000000"/>
                </a:solidFill>
                <a:latin typeface="Times New Roman"/>
              </a:rPr>
              <a:t>lcdPrint()</a:t>
            </a:r>
            <a:endParaRPr b="0" lang="en-GB" sz="1800" spc="-1" strike="noStrike">
              <a:solidFill>
                <a:srgbClr val="000000"/>
              </a:solidFill>
              <a:latin typeface="Times New Roman"/>
            </a:endParaRPr>
          </a:p>
        </p:txBody>
      </p:sp>
      <p:pic>
        <p:nvPicPr>
          <p:cNvPr id="233" name="" descr=""/>
          <p:cNvPicPr/>
          <p:nvPr/>
        </p:nvPicPr>
        <p:blipFill>
          <a:blip r:embed="rId2"/>
          <a:stretch/>
        </p:blipFill>
        <p:spPr>
          <a:xfrm>
            <a:off x="1126440" y="1257120"/>
            <a:ext cx="9846360" cy="422928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4" name="" descr=""/>
          <p:cNvPicPr/>
          <p:nvPr/>
        </p:nvPicPr>
        <p:blipFill>
          <a:blip r:embed="rId1"/>
          <a:stretch/>
        </p:blipFill>
        <p:spPr>
          <a:xfrm>
            <a:off x="0" y="0"/>
            <a:ext cx="12191760" cy="504360"/>
          </a:xfrm>
          <a:prstGeom prst="rect">
            <a:avLst/>
          </a:prstGeom>
          <a:ln w="0">
            <a:noFill/>
          </a:ln>
        </p:spPr>
      </p:pic>
      <p:sp>
        <p:nvSpPr>
          <p:cNvPr id="235"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36" name=""/>
          <p:cNvSpPr txBox="1"/>
          <p:nvPr/>
        </p:nvSpPr>
        <p:spPr>
          <a:xfrm>
            <a:off x="10287000" y="6520680"/>
            <a:ext cx="1904760" cy="337320"/>
          </a:xfrm>
          <a:prstGeom prst="rect">
            <a:avLst/>
          </a:prstGeom>
          <a:noFill/>
          <a:ln w="0">
            <a:noFill/>
          </a:ln>
        </p:spPr>
        <p:txBody>
          <a:bodyPr lIns="0" rIns="0" tIns="0" bIns="0" anchor="t">
            <a:noAutofit/>
          </a:bodyPr>
          <a:p>
            <a:pPr algn="ctr"/>
            <a:fld id="{12E507FF-233D-4E47-86DF-D2773828574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37"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238" name="" descr=""/>
          <p:cNvPicPr/>
          <p:nvPr/>
        </p:nvPicPr>
        <p:blipFill>
          <a:blip r:embed="rId2"/>
          <a:stretch/>
        </p:blipFill>
        <p:spPr>
          <a:xfrm>
            <a:off x="2886480" y="1371600"/>
            <a:ext cx="6714720" cy="50882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9" name="" descr=""/>
          <p:cNvPicPr/>
          <p:nvPr/>
        </p:nvPicPr>
        <p:blipFill>
          <a:blip r:embed="rId1"/>
          <a:stretch/>
        </p:blipFill>
        <p:spPr>
          <a:xfrm>
            <a:off x="0" y="0"/>
            <a:ext cx="12191760" cy="504360"/>
          </a:xfrm>
          <a:prstGeom prst="rect">
            <a:avLst/>
          </a:prstGeom>
          <a:ln w="0">
            <a:noFill/>
          </a:ln>
        </p:spPr>
      </p:pic>
      <p:sp>
        <p:nvSpPr>
          <p:cNvPr id="240"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3. Introducing the LCD display.</a:t>
            </a:r>
            <a:endParaRPr b="0" lang="en-GB" sz="2200" spc="-1" strike="noStrike">
              <a:solidFill>
                <a:srgbClr val="000000"/>
              </a:solidFill>
              <a:latin typeface="Times New Roman"/>
            </a:endParaRPr>
          </a:p>
        </p:txBody>
      </p:sp>
      <p:sp>
        <p:nvSpPr>
          <p:cNvPr id="241" name=""/>
          <p:cNvSpPr txBox="1"/>
          <p:nvPr/>
        </p:nvSpPr>
        <p:spPr>
          <a:xfrm>
            <a:off x="10287000" y="6520680"/>
            <a:ext cx="1904760" cy="337320"/>
          </a:xfrm>
          <a:prstGeom prst="rect">
            <a:avLst/>
          </a:prstGeom>
          <a:noFill/>
          <a:ln w="0">
            <a:noFill/>
          </a:ln>
        </p:spPr>
        <p:txBody>
          <a:bodyPr lIns="0" rIns="0" tIns="0" bIns="0" anchor="t">
            <a:noAutofit/>
          </a:bodyPr>
          <a:p>
            <a:pPr algn="ctr"/>
            <a:fld id="{6EC9C58B-2D71-4DED-915B-8DAA5A22605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4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243" name="" descr=""/>
          <p:cNvPicPr/>
          <p:nvPr/>
        </p:nvPicPr>
        <p:blipFill>
          <a:blip r:embed="rId2"/>
          <a:stretch/>
        </p:blipFill>
        <p:spPr>
          <a:xfrm>
            <a:off x="587520" y="1394640"/>
            <a:ext cx="5019120" cy="4777560"/>
          </a:xfrm>
          <a:prstGeom prst="rect">
            <a:avLst/>
          </a:prstGeom>
          <a:ln w="0">
            <a:noFill/>
          </a:ln>
        </p:spPr>
      </p:pic>
      <p:pic>
        <p:nvPicPr>
          <p:cNvPr id="244" name="" descr=""/>
          <p:cNvPicPr/>
          <p:nvPr/>
        </p:nvPicPr>
        <p:blipFill>
          <a:blip r:embed="rId3"/>
          <a:stretch/>
        </p:blipFill>
        <p:spPr>
          <a:xfrm>
            <a:off x="6341760" y="1371600"/>
            <a:ext cx="5088240" cy="485100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5" name="" descr=""/>
          <p:cNvPicPr/>
          <p:nvPr/>
        </p:nvPicPr>
        <p:blipFill>
          <a:blip r:embed="rId1"/>
          <a:stretch/>
        </p:blipFill>
        <p:spPr>
          <a:xfrm>
            <a:off x="0" y="0"/>
            <a:ext cx="12191760" cy="504360"/>
          </a:xfrm>
          <a:prstGeom prst="rect">
            <a:avLst/>
          </a:prstGeom>
          <a:ln w="0">
            <a:noFill/>
          </a:ln>
        </p:spPr>
      </p:pic>
      <p:sp>
        <p:nvSpPr>
          <p:cNvPr id="246"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247" name=""/>
          <p:cNvSpPr txBox="1"/>
          <p:nvPr/>
        </p:nvSpPr>
        <p:spPr>
          <a:xfrm>
            <a:off x="456120" y="1635120"/>
            <a:ext cx="8802000" cy="68004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1 – Schematics of a mixed signal circuit.</a:t>
            </a:r>
            <a:endParaRPr b="0" lang="en-GB" sz="2400" spc="-1" strike="noStrike">
              <a:solidFill>
                <a:srgbClr val="000000"/>
              </a:solidFill>
              <a:latin typeface="Times New Roman"/>
            </a:endParaRPr>
          </a:p>
        </p:txBody>
      </p:sp>
      <p:sp>
        <p:nvSpPr>
          <p:cNvPr id="248" name=""/>
          <p:cNvSpPr txBox="1"/>
          <p:nvPr/>
        </p:nvSpPr>
        <p:spPr>
          <a:xfrm>
            <a:off x="456120" y="2131200"/>
            <a:ext cx="606312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2 – Programming the Arduino board.</a:t>
            </a:r>
            <a:endParaRPr b="0" lang="en-GB" sz="2400" spc="-1" strike="noStrike">
              <a:solidFill>
                <a:srgbClr val="000000"/>
              </a:solidFill>
              <a:latin typeface="Times New Roman"/>
            </a:endParaRPr>
          </a:p>
        </p:txBody>
      </p:sp>
      <p:sp>
        <p:nvSpPr>
          <p:cNvPr id="249" name=""/>
          <p:cNvSpPr txBox="1"/>
          <p:nvPr/>
        </p:nvSpPr>
        <p:spPr>
          <a:xfrm>
            <a:off x="456120" y="2626920"/>
            <a:ext cx="5469840" cy="340200"/>
          </a:xfrm>
          <a:prstGeom prst="rect">
            <a:avLst/>
          </a:prstGeom>
          <a:noFill/>
          <a:ln w="0">
            <a:noFill/>
          </a:ln>
        </p:spPr>
        <p:txBody>
          <a:bodyPr lIns="0" rIns="0" tIns="0" bIns="0" anchor="t">
            <a:noAutofit/>
          </a:bodyPr>
          <a:p>
            <a:r>
              <a:rPr b="1" lang="en-GB" sz="2400" spc="-1" strike="noStrike">
                <a:solidFill>
                  <a:srgbClr val="b2b2b2"/>
                </a:solidFill>
                <a:latin typeface="Arial"/>
                <a:ea typeface="Arial"/>
              </a:rPr>
              <a:t>►</a:t>
            </a:r>
            <a:r>
              <a:rPr b="1" lang="en-GB" sz="2400" spc="-1" strike="noStrike">
                <a:solidFill>
                  <a:srgbClr val="000000"/>
                </a:solidFill>
                <a:latin typeface="Arial"/>
                <a:ea typeface="Arial"/>
              </a:rPr>
              <a:t> </a:t>
            </a:r>
            <a:r>
              <a:rPr b="0" lang="en-GB" sz="2400" spc="-1" strike="noStrike">
                <a:solidFill>
                  <a:srgbClr val="b2b2b2"/>
                </a:solidFill>
                <a:latin typeface="Arial"/>
                <a:ea typeface="Arial"/>
              </a:rPr>
              <a:t>Task 3 – Introducing the LCD display.</a:t>
            </a:r>
            <a:endParaRPr b="0" lang="en-GB" sz="2400" spc="-1" strike="noStrike">
              <a:solidFill>
                <a:srgbClr val="000000"/>
              </a:solidFill>
              <a:latin typeface="Times New Roman"/>
            </a:endParaRPr>
          </a:p>
        </p:txBody>
      </p:sp>
      <p:sp>
        <p:nvSpPr>
          <p:cNvPr id="250" name=""/>
          <p:cNvSpPr txBox="1"/>
          <p:nvPr/>
        </p:nvSpPr>
        <p:spPr>
          <a:xfrm>
            <a:off x="456120" y="3113640"/>
            <a:ext cx="4641120" cy="340200"/>
          </a:xfrm>
          <a:prstGeom prst="rect">
            <a:avLst/>
          </a:prstGeom>
          <a:noFill/>
          <a:ln w="0">
            <a:noFill/>
          </a:ln>
        </p:spPr>
        <p:txBody>
          <a:bodyPr lIns="0" rIns="0" tIns="0" bIns="0" anchor="t">
            <a:noAutofit/>
          </a:bodyPr>
          <a:p>
            <a:r>
              <a:rPr b="0" lang="en-GB" sz="2400" spc="-1" strike="noStrike">
                <a:solidFill>
                  <a:srgbClr val="90292a"/>
                </a:solidFill>
                <a:latin typeface="Arial"/>
                <a:ea typeface="Arial"/>
              </a:rPr>
              <a:t>►</a:t>
            </a:r>
            <a:r>
              <a:rPr b="0" lang="en-GB" sz="2400" spc="-1" strike="noStrike">
                <a:solidFill>
                  <a:srgbClr val="b2b2b2"/>
                </a:solidFill>
                <a:latin typeface="Arial"/>
                <a:ea typeface="Arial"/>
              </a:rPr>
              <a:t> </a:t>
            </a:r>
            <a:r>
              <a:rPr b="1" lang="en-GB" sz="2400" spc="-1" strike="noStrike">
                <a:solidFill>
                  <a:srgbClr val="000000"/>
                </a:solidFill>
                <a:latin typeface="Arial"/>
                <a:ea typeface="Arial"/>
              </a:rPr>
              <a:t>Task 4 – Conditioning circuit.</a:t>
            </a:r>
            <a:endParaRPr b="0" lang="en-GB" sz="2400" spc="-1" strike="noStrike">
              <a:solidFill>
                <a:srgbClr val="000000"/>
              </a:solidFill>
              <a:latin typeface="Times New Roman"/>
            </a:endParaRPr>
          </a:p>
        </p:txBody>
      </p:sp>
      <p:sp>
        <p:nvSpPr>
          <p:cNvPr id="251" name=""/>
          <p:cNvSpPr txBox="1"/>
          <p:nvPr/>
        </p:nvSpPr>
        <p:spPr>
          <a:xfrm>
            <a:off x="9829800" y="6520680"/>
            <a:ext cx="2338920" cy="337320"/>
          </a:xfrm>
          <a:prstGeom prst="rect">
            <a:avLst/>
          </a:prstGeom>
          <a:noFill/>
          <a:ln w="0">
            <a:noFill/>
          </a:ln>
        </p:spPr>
        <p:txBody>
          <a:bodyPr lIns="0" rIns="0" tIns="0" bIns="0" anchor="t">
            <a:noAutofit/>
          </a:bodyPr>
          <a:p>
            <a:pPr algn="ctr"/>
            <a:fld id="{99128F8C-0A89-4D4A-8638-1624D43108BB}"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52" name=""/>
          <p:cNvSpPr txBox="1"/>
          <p:nvPr/>
        </p:nvSpPr>
        <p:spPr>
          <a:xfrm>
            <a:off x="457200" y="3582000"/>
            <a:ext cx="274248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3" name="" descr=""/>
          <p:cNvPicPr/>
          <p:nvPr/>
        </p:nvPicPr>
        <p:blipFill>
          <a:blip r:embed="rId1"/>
          <a:stretch/>
        </p:blipFill>
        <p:spPr>
          <a:xfrm>
            <a:off x="0" y="0"/>
            <a:ext cx="12191760" cy="504360"/>
          </a:xfrm>
          <a:prstGeom prst="rect">
            <a:avLst/>
          </a:prstGeom>
          <a:ln w="0">
            <a:noFill/>
          </a:ln>
        </p:spPr>
      </p:pic>
      <p:sp>
        <p:nvSpPr>
          <p:cNvPr id="254"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4. Conditioning circuit.</a:t>
            </a:r>
            <a:endParaRPr b="0" lang="en-GB" sz="2200" spc="-1" strike="noStrike">
              <a:solidFill>
                <a:srgbClr val="000000"/>
              </a:solidFill>
              <a:latin typeface="Times New Roman"/>
            </a:endParaRPr>
          </a:p>
        </p:txBody>
      </p:sp>
      <p:sp>
        <p:nvSpPr>
          <p:cNvPr id="255" name=""/>
          <p:cNvSpPr txBox="1"/>
          <p:nvPr/>
        </p:nvSpPr>
        <p:spPr>
          <a:xfrm>
            <a:off x="10287000" y="6520680"/>
            <a:ext cx="1904760" cy="337320"/>
          </a:xfrm>
          <a:prstGeom prst="rect">
            <a:avLst/>
          </a:prstGeom>
          <a:noFill/>
          <a:ln w="0">
            <a:noFill/>
          </a:ln>
        </p:spPr>
        <p:txBody>
          <a:bodyPr lIns="0" rIns="0" tIns="0" bIns="0" anchor="t">
            <a:noAutofit/>
          </a:bodyPr>
          <a:p>
            <a:pPr algn="ctr"/>
            <a:fld id="{F91ACF7B-27F3-436F-90D8-BBADA917D27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56"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57" name=""/>
          <p:cNvSpPr txBox="1"/>
          <p:nvPr/>
        </p:nvSpPr>
        <p:spPr>
          <a:xfrm>
            <a:off x="6934320" y="1371600"/>
            <a:ext cx="4724280" cy="4906080"/>
          </a:xfrm>
          <a:prstGeom prst="rect">
            <a:avLst/>
          </a:prstGeom>
          <a:noFill/>
          <a:ln w="0">
            <a:noFill/>
          </a:ln>
        </p:spPr>
        <p:txBody>
          <a:bodyPr lIns="0" rIns="0" tIns="0" bIns="0" anchor="t">
            <a:noAutofit/>
          </a:bodyPr>
          <a:p>
            <a:r>
              <a:rPr b="0" lang="en-GB" sz="1600" spc="-1" strike="noStrike">
                <a:solidFill>
                  <a:srgbClr val="000000"/>
                </a:solidFill>
                <a:latin typeface="Times New Roman"/>
              </a:rPr>
              <a:t>In the </a:t>
            </a:r>
            <a:r>
              <a:rPr b="1" lang="en-GB" sz="1600" spc="-1" strike="noStrike">
                <a:solidFill>
                  <a:srgbClr val="000000"/>
                </a:solidFill>
                <a:latin typeface="Times New Roman"/>
              </a:rPr>
              <a:t>task 4.1 </a:t>
            </a:r>
            <a:r>
              <a:rPr b="0" lang="en-GB" sz="1600" spc="-1" strike="noStrike">
                <a:solidFill>
                  <a:srgbClr val="000000"/>
                </a:solidFill>
                <a:latin typeface="Times New Roman"/>
              </a:rPr>
              <a:t>we are going to design the new circuit following the requirements to optimise the previous circuit.</a:t>
            </a:r>
            <a:br>
              <a:rPr sz="1600"/>
            </a:br>
            <a:br>
              <a:rPr sz="1600"/>
            </a:br>
            <a:r>
              <a:rPr b="0" lang="en-GB" sz="1600" spc="-1" strike="noStrike">
                <a:solidFill>
                  <a:srgbClr val="000000"/>
                </a:solidFill>
                <a:latin typeface="Times New Roman"/>
              </a:rPr>
              <a:t>That optimisation involves the introduction of the </a:t>
            </a:r>
            <a:r>
              <a:rPr b="1" lang="en-GB" sz="1600" spc="-1" strike="noStrike">
                <a:solidFill>
                  <a:srgbClr val="000000"/>
                </a:solidFill>
                <a:latin typeface="Times New Roman"/>
              </a:rPr>
              <a:t>thermistor</a:t>
            </a:r>
            <a:r>
              <a:rPr b="0" lang="en-GB" sz="1600" spc="-1" strike="noStrike">
                <a:solidFill>
                  <a:srgbClr val="000000"/>
                </a:solidFill>
                <a:latin typeface="Times New Roman"/>
              </a:rPr>
              <a:t>. It maximizes the analogue input range into an ADC in order to maximize the resolution. In the same way, this task optimises the input of the ADC inside Arduino Uno from 0.25 to 4.75 V.</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Taking the specifications of our Group E, the inlet temperatures to be considered are between 0 ºC and 80 ºC. </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r>
              <a:rPr b="0" lang="en-GB" sz="1600" spc="-1" strike="noStrike">
                <a:solidFill>
                  <a:srgbClr val="000000"/>
                </a:solidFill>
                <a:latin typeface="Times New Roman"/>
              </a:rPr>
              <a:t>This input temperatures range must be </a:t>
            </a:r>
            <a:r>
              <a:rPr b="1" lang="en-GB" sz="1600" spc="-1" strike="noStrike">
                <a:solidFill>
                  <a:srgbClr val="000000"/>
                </a:solidFill>
                <a:latin typeface="Times New Roman"/>
              </a:rPr>
              <a:t>converted by the non-inverting amplifier</a:t>
            </a:r>
            <a:r>
              <a:rPr b="0" lang="en-GB" sz="1600" spc="-1" strike="noStrike">
                <a:solidFill>
                  <a:srgbClr val="000000"/>
                </a:solidFill>
                <a:latin typeface="Times New Roman"/>
              </a:rPr>
              <a:t> to an ADC voltage input between 0.25 V and 4.75 V.</a:t>
            </a:r>
            <a:br>
              <a:rPr sz="1600"/>
            </a:br>
            <a:r>
              <a:rPr b="0" lang="en-GB" sz="1600" spc="-1" strike="noStrike">
                <a:solidFill>
                  <a:srgbClr val="000000"/>
                </a:solidFill>
                <a:latin typeface="Times New Roman"/>
              </a:rPr>
              <a:t> </a:t>
            </a:r>
            <a:endParaRPr b="0" lang="en-GB" sz="16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1800" spc="-1" strike="noStrike">
              <a:solidFill>
                <a:srgbClr val="000000"/>
              </a:solidFill>
              <a:latin typeface="Times New Roman"/>
            </a:endParaRPr>
          </a:p>
          <a:p>
            <a:endParaRPr b="0" lang="en-GB" sz="2000" spc="-1" strike="noStrike">
              <a:solidFill>
                <a:srgbClr val="000000"/>
              </a:solidFill>
              <a:latin typeface="Times New Roman"/>
            </a:endParaRPr>
          </a:p>
        </p:txBody>
      </p:sp>
      <p:pic>
        <p:nvPicPr>
          <p:cNvPr id="258" name="" descr=""/>
          <p:cNvPicPr/>
          <p:nvPr/>
        </p:nvPicPr>
        <p:blipFill>
          <a:blip r:embed="rId2"/>
          <a:stretch/>
        </p:blipFill>
        <p:spPr>
          <a:xfrm>
            <a:off x="342720" y="1371600"/>
            <a:ext cx="6308280" cy="501228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9" name="" descr=""/>
          <p:cNvPicPr/>
          <p:nvPr/>
        </p:nvPicPr>
        <p:blipFill>
          <a:blip r:embed="rId1"/>
          <a:stretch/>
        </p:blipFill>
        <p:spPr>
          <a:xfrm>
            <a:off x="0" y="0"/>
            <a:ext cx="12191760" cy="504360"/>
          </a:xfrm>
          <a:prstGeom prst="rect">
            <a:avLst/>
          </a:prstGeom>
          <a:ln w="0">
            <a:noFill/>
          </a:ln>
        </p:spPr>
      </p:pic>
      <p:sp>
        <p:nvSpPr>
          <p:cNvPr id="260"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4. Conditioning circuit.</a:t>
            </a:r>
            <a:endParaRPr b="0" lang="en-GB" sz="2200" spc="-1" strike="noStrike">
              <a:solidFill>
                <a:srgbClr val="000000"/>
              </a:solidFill>
              <a:latin typeface="Times New Roman"/>
            </a:endParaRPr>
          </a:p>
        </p:txBody>
      </p:sp>
      <p:sp>
        <p:nvSpPr>
          <p:cNvPr id="261" name=""/>
          <p:cNvSpPr txBox="1"/>
          <p:nvPr/>
        </p:nvSpPr>
        <p:spPr>
          <a:xfrm>
            <a:off x="10287000" y="6520680"/>
            <a:ext cx="1904760" cy="337320"/>
          </a:xfrm>
          <a:prstGeom prst="rect">
            <a:avLst/>
          </a:prstGeom>
          <a:noFill/>
          <a:ln w="0">
            <a:noFill/>
          </a:ln>
        </p:spPr>
        <p:txBody>
          <a:bodyPr lIns="0" rIns="0" tIns="0" bIns="0" anchor="t">
            <a:noAutofit/>
          </a:bodyPr>
          <a:p>
            <a:pPr algn="ctr"/>
            <a:fld id="{50BC61AA-BB4E-43FF-955B-61DA374C5244}"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6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63" name=""/>
          <p:cNvSpPr txBox="1"/>
          <p:nvPr/>
        </p:nvSpPr>
        <p:spPr>
          <a:xfrm>
            <a:off x="6934320" y="1371600"/>
            <a:ext cx="5067000" cy="4964400"/>
          </a:xfrm>
          <a:prstGeom prst="rect">
            <a:avLst/>
          </a:prstGeom>
          <a:noFill/>
          <a:ln w="0">
            <a:noFill/>
          </a:ln>
        </p:spPr>
        <p:txBody>
          <a:bodyPr lIns="0" rIns="0" tIns="0" bIns="0" anchor="t">
            <a:noAutofit/>
          </a:bodyPr>
          <a:p>
            <a:r>
              <a:rPr b="0" lang="en-GB" sz="1500" spc="-1" strike="noStrike">
                <a:solidFill>
                  <a:srgbClr val="000000"/>
                </a:solidFill>
                <a:latin typeface="Times New Roman"/>
              </a:rPr>
              <a:t>In the </a:t>
            </a:r>
            <a:r>
              <a:rPr b="1" lang="en-GB" sz="1500" spc="-1" strike="noStrike">
                <a:solidFill>
                  <a:srgbClr val="000000"/>
                </a:solidFill>
                <a:latin typeface="Times New Roman"/>
              </a:rPr>
              <a:t>task 4.2 </a:t>
            </a:r>
            <a:r>
              <a:rPr b="0" lang="en-GB" sz="1500" spc="-1" strike="noStrike">
                <a:solidFill>
                  <a:srgbClr val="000000"/>
                </a:solidFill>
                <a:latin typeface="Times New Roman"/>
              </a:rPr>
              <a:t>we show the schematic view with the solution corresponding the connections between the components.</a:t>
            </a:r>
            <a:endParaRPr b="0" lang="en-GB" sz="1500" spc="-1" strike="noStrike">
              <a:solidFill>
                <a:srgbClr val="000000"/>
              </a:solidFill>
              <a:latin typeface="Times New Roman"/>
            </a:endParaRPr>
          </a:p>
          <a:p>
            <a:endParaRPr b="0" lang="en-GB" sz="1800" spc="-1" strike="noStrike">
              <a:solidFill>
                <a:srgbClr val="000000"/>
              </a:solidFill>
              <a:latin typeface="Times New Roman"/>
            </a:endParaRPr>
          </a:p>
          <a:p>
            <a:r>
              <a:rPr b="0" lang="en-GB" sz="1500" spc="-1" strike="noStrike">
                <a:solidFill>
                  <a:srgbClr val="000000"/>
                </a:solidFill>
                <a:latin typeface="Times New Roman"/>
              </a:rPr>
              <a:t>To adjusting the frequency in the circuit, and re-create a thermistor, there are three resistors with default value assigned are 1kΩ. Resistors are used with a thermistor and Op-Amp to create a voltage divider, which converts the thermistor's resistance change into a voltage change. This voltage is then fed into the Op-Amp, which can be configured to amplify and linearise the signal, making the output proportional to temperature. Because of that, we need to calculate by the temperature range 0ºC and 80ºC and the power supply voltage, at 5V.</a:t>
            </a:r>
            <a:endParaRPr b="0" lang="en-GB" sz="1500" spc="-1" strike="noStrike">
              <a:solidFill>
                <a:srgbClr val="000000"/>
              </a:solidFill>
              <a:latin typeface="Times New Roman"/>
            </a:endParaRPr>
          </a:p>
          <a:p>
            <a:endParaRPr b="0" lang="en-GB" sz="1800" spc="-1" strike="noStrike">
              <a:solidFill>
                <a:srgbClr val="000000"/>
              </a:solidFill>
              <a:latin typeface="Times New Roman"/>
            </a:endParaRPr>
          </a:p>
          <a:p>
            <a:r>
              <a:rPr b="0" lang="en-GB" sz="1500" spc="-1" strike="noStrike">
                <a:solidFill>
                  <a:srgbClr val="000000"/>
                </a:solidFill>
                <a:latin typeface="Times New Roman"/>
              </a:rPr>
              <a:t>The second component is operation amplifier, opAmp741. It’s important understand the pins: IN+ and IN- used for connecting the signal to be amplified or filtered; Power+ and Power- , respectively the input voltage and the ground. </a:t>
            </a:r>
            <a:endParaRPr b="0" lang="en-GB" sz="1500" spc="-1" strike="noStrike">
              <a:solidFill>
                <a:srgbClr val="000000"/>
              </a:solidFill>
              <a:latin typeface="Times New Roman"/>
            </a:endParaRPr>
          </a:p>
          <a:p>
            <a:endParaRPr b="0" lang="en-GB" sz="1800" spc="-1" strike="noStrike">
              <a:solidFill>
                <a:srgbClr val="000000"/>
              </a:solidFill>
              <a:latin typeface="Times New Roman"/>
            </a:endParaRPr>
          </a:p>
          <a:p>
            <a:r>
              <a:rPr b="0" lang="en-GB" sz="1500" spc="-1" strike="noStrike">
                <a:solidFill>
                  <a:srgbClr val="000000"/>
                </a:solidFill>
                <a:latin typeface="Times New Roman"/>
              </a:rPr>
              <a:t>To assign the values, apart the available academic material, the Unit3, we have checked the Arduino official documentation for OpAmp741 </a:t>
            </a:r>
            <a:r>
              <a:rPr b="0" lang="en-GB" sz="1500" spc="-1" strike="noStrike">
                <a:solidFill>
                  <a:srgbClr val="000000"/>
                </a:solidFill>
                <a:latin typeface="Times New Roman"/>
                <a:hlinkClick r:id="rId2"/>
              </a:rPr>
              <a:t>https://www.electronicshub.org/ic-741-op-amp-basics/</a:t>
            </a:r>
            <a:endParaRPr b="0" lang="en-GB" sz="1500" spc="-1" strike="noStrike">
              <a:solidFill>
                <a:srgbClr val="000000"/>
              </a:solidFill>
              <a:latin typeface="Times New Roman"/>
            </a:endParaRPr>
          </a:p>
          <a:p>
            <a:r>
              <a:rPr b="0" lang="en-GB" sz="1500" spc="-1" strike="noStrike">
                <a:solidFill>
                  <a:srgbClr val="000000"/>
                </a:solidFill>
                <a:latin typeface="Times New Roman"/>
              </a:rPr>
              <a:t> </a:t>
            </a:r>
            <a:endParaRPr b="0" lang="en-GB" sz="1500" spc="-1" strike="noStrike">
              <a:solidFill>
                <a:srgbClr val="000000"/>
              </a:solidFill>
              <a:latin typeface="Times New Roman"/>
            </a:endParaRPr>
          </a:p>
        </p:txBody>
      </p:sp>
      <p:pic>
        <p:nvPicPr>
          <p:cNvPr id="264" name="" descr=""/>
          <p:cNvPicPr/>
          <p:nvPr/>
        </p:nvPicPr>
        <p:blipFill>
          <a:blip r:embed="rId3"/>
          <a:stretch/>
        </p:blipFill>
        <p:spPr>
          <a:xfrm>
            <a:off x="230760" y="1257120"/>
            <a:ext cx="6627240" cy="514332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5" name="" descr=""/>
          <p:cNvPicPr/>
          <p:nvPr/>
        </p:nvPicPr>
        <p:blipFill>
          <a:blip r:embed="rId1"/>
          <a:stretch/>
        </p:blipFill>
        <p:spPr>
          <a:xfrm>
            <a:off x="0" y="0"/>
            <a:ext cx="12191760" cy="504360"/>
          </a:xfrm>
          <a:prstGeom prst="rect">
            <a:avLst/>
          </a:prstGeom>
          <a:ln w="0">
            <a:noFill/>
          </a:ln>
        </p:spPr>
      </p:pic>
      <p:sp>
        <p:nvSpPr>
          <p:cNvPr id="266"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4. Conditioning circuit.</a:t>
            </a:r>
            <a:endParaRPr b="0" lang="en-GB" sz="2200" spc="-1" strike="noStrike">
              <a:solidFill>
                <a:srgbClr val="000000"/>
              </a:solidFill>
              <a:latin typeface="Times New Roman"/>
            </a:endParaRPr>
          </a:p>
        </p:txBody>
      </p:sp>
      <p:sp>
        <p:nvSpPr>
          <p:cNvPr id="267" name=""/>
          <p:cNvSpPr txBox="1"/>
          <p:nvPr/>
        </p:nvSpPr>
        <p:spPr>
          <a:xfrm>
            <a:off x="10287000" y="6520680"/>
            <a:ext cx="1904760" cy="337320"/>
          </a:xfrm>
          <a:prstGeom prst="rect">
            <a:avLst/>
          </a:prstGeom>
          <a:noFill/>
          <a:ln w="0">
            <a:noFill/>
          </a:ln>
        </p:spPr>
        <p:txBody>
          <a:bodyPr lIns="0" rIns="0" tIns="0" bIns="0" anchor="t">
            <a:noAutofit/>
          </a:bodyPr>
          <a:p>
            <a:pPr algn="ctr"/>
            <a:fld id="{D79B2B54-5F38-4856-83EB-F837CB026182}"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6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69" name=""/>
          <p:cNvSpPr txBox="1"/>
          <p:nvPr/>
        </p:nvSpPr>
        <p:spPr>
          <a:xfrm>
            <a:off x="342720" y="1371600"/>
            <a:ext cx="11658600" cy="1714320"/>
          </a:xfrm>
          <a:prstGeom prst="rect">
            <a:avLst/>
          </a:prstGeom>
          <a:noFill/>
          <a:ln w="0">
            <a:noFill/>
          </a:ln>
        </p:spPr>
        <p:txBody>
          <a:bodyPr lIns="0" rIns="0" tIns="0" bIns="0" anchor="t">
            <a:noAutofit/>
          </a:bodyPr>
          <a:p>
            <a:r>
              <a:rPr b="0" lang="en-GB" sz="1500" spc="-1" strike="noStrike">
                <a:solidFill>
                  <a:srgbClr val="000000"/>
                </a:solidFill>
                <a:latin typeface="Times New Roman"/>
              </a:rPr>
              <a:t>In the </a:t>
            </a:r>
            <a:r>
              <a:rPr b="1" lang="en-GB" sz="1500" spc="-1" strike="noStrike">
                <a:solidFill>
                  <a:srgbClr val="000000"/>
                </a:solidFill>
                <a:latin typeface="Times New Roman"/>
              </a:rPr>
              <a:t>task 4.3 </a:t>
            </a:r>
            <a:r>
              <a:rPr b="0" lang="en-GB" sz="1500" spc="-1" strike="noStrike">
                <a:solidFill>
                  <a:srgbClr val="000000"/>
                </a:solidFill>
                <a:latin typeface="Times New Roman"/>
              </a:rPr>
              <a:t>we are going to calculate the resistors values.</a:t>
            </a:r>
            <a:endParaRPr b="0" lang="en-GB" sz="1500" spc="-1" strike="noStrike">
              <a:solidFill>
                <a:srgbClr val="000000"/>
              </a:solidFill>
              <a:latin typeface="Times New Roman"/>
            </a:endParaRPr>
          </a:p>
          <a:p>
            <a:endParaRPr b="0" lang="en-GB" sz="1800" spc="-1" strike="noStrike">
              <a:solidFill>
                <a:srgbClr val="000000"/>
              </a:solidFill>
              <a:latin typeface="Times New Roman"/>
            </a:endParaRPr>
          </a:p>
          <a:p>
            <a:r>
              <a:rPr b="0" lang="en-GB" sz="1500" spc="-1" strike="noStrike">
                <a:solidFill>
                  <a:srgbClr val="000000"/>
                </a:solidFill>
                <a:latin typeface="Times New Roman"/>
              </a:rPr>
              <a:t>The first resistor, Rh which connect the inverting input, pin IN- from OpAmp and the power voltage 5V.</a:t>
            </a:r>
            <a:endParaRPr b="0" lang="en-GB" sz="1500" spc="-1" strike="noStrike">
              <a:solidFill>
                <a:srgbClr val="000000"/>
              </a:solidFill>
              <a:latin typeface="Times New Roman"/>
            </a:endParaRPr>
          </a:p>
          <a:p>
            <a:r>
              <a:rPr b="0" lang="en-GB" sz="1500" spc="-1" strike="noStrike">
                <a:solidFill>
                  <a:srgbClr val="000000"/>
                </a:solidFill>
                <a:latin typeface="Times New Roman"/>
              </a:rPr>
              <a:t>The second resistor, Rl connect between the inverting input pin IN- from OpAmp and the ground.</a:t>
            </a:r>
            <a:endParaRPr b="0" lang="en-GB" sz="1500" spc="-1" strike="noStrike">
              <a:solidFill>
                <a:srgbClr val="000000"/>
              </a:solidFill>
              <a:latin typeface="Times New Roman"/>
            </a:endParaRPr>
          </a:p>
          <a:p>
            <a:r>
              <a:rPr b="0" lang="en-GB" sz="1500" spc="-1" strike="noStrike">
                <a:solidFill>
                  <a:srgbClr val="000000"/>
                </a:solidFill>
                <a:latin typeface="Times New Roman"/>
              </a:rPr>
              <a:t>The third resistor, Rf connect between the inverting input pin IN- from OpAmp and the OpAmp ouput.</a:t>
            </a:r>
            <a:endParaRPr b="0" lang="en-GB" sz="1500" spc="-1" strike="noStrike">
              <a:solidFill>
                <a:srgbClr val="000000"/>
              </a:solidFill>
              <a:latin typeface="Times New Roman"/>
            </a:endParaRPr>
          </a:p>
          <a:p>
            <a:endParaRPr b="0" lang="en-GB" sz="1500" spc="-1" strike="noStrike">
              <a:solidFill>
                <a:srgbClr val="000000"/>
              </a:solidFill>
              <a:latin typeface="Times New Roman"/>
            </a:endParaRPr>
          </a:p>
          <a:p>
            <a:r>
              <a:rPr b="0" lang="en-GB" sz="1500" spc="-1" strike="noStrike">
                <a:solidFill>
                  <a:srgbClr val="000000"/>
                </a:solidFill>
                <a:latin typeface="Times New Roman"/>
              </a:rPr>
              <a:t>To calculate the resistor values, following the formula:</a:t>
            </a:r>
            <a:endParaRPr b="0" lang="en-GB" sz="1500" spc="-1" strike="noStrike">
              <a:solidFill>
                <a:srgbClr val="000000"/>
              </a:solidFill>
              <a:latin typeface="Times New Roman"/>
            </a:endParaRPr>
          </a:p>
        </p:txBody>
      </p:sp>
      <p:pic>
        <p:nvPicPr>
          <p:cNvPr id="270" name="" descr="14§display§V_0 = V^ + \cdot (1+\frac{Rf}{Rl} ​+ \frac{Rf}{Rh}​) − \frac{Vr \cdot Rf}{Rh}​§svg§600§TRUE§"/>
          <p:cNvPicPr/>
          <p:nvPr/>
        </p:nvPicPr>
        <p:blipFill>
          <a:blip r:embed="rId2"/>
          <a:stretch/>
        </p:blipFill>
        <p:spPr>
          <a:xfrm>
            <a:off x="876960" y="3045960"/>
            <a:ext cx="2666160" cy="383040"/>
          </a:xfrm>
          <a:prstGeom prst="rect">
            <a:avLst/>
          </a:prstGeom>
          <a:ln w="0">
            <a:noFill/>
          </a:ln>
        </p:spPr>
      </p:pic>
      <p:sp>
        <p:nvSpPr>
          <p:cNvPr id="271" name=""/>
          <p:cNvSpPr txBox="1"/>
          <p:nvPr/>
        </p:nvSpPr>
        <p:spPr>
          <a:xfrm>
            <a:off x="342720" y="3771720"/>
            <a:ext cx="11658600" cy="914400"/>
          </a:xfrm>
          <a:prstGeom prst="rect">
            <a:avLst/>
          </a:prstGeom>
          <a:noFill/>
          <a:ln w="0">
            <a:noFill/>
          </a:ln>
        </p:spPr>
        <p:txBody>
          <a:bodyPr lIns="0" rIns="0" tIns="0" bIns="0" anchor="t">
            <a:noAutofit/>
          </a:bodyPr>
          <a:p>
            <a:r>
              <a:rPr b="0" lang="en-GB" sz="1500" spc="-1" strike="noStrike">
                <a:solidFill>
                  <a:srgbClr val="000000"/>
                </a:solidFill>
                <a:latin typeface="Times New Roman"/>
              </a:rPr>
              <a:t>To calculate the offset, remember we have a temperature range from 0ºC to maximum 80ºC, the resultant values are:</a:t>
            </a:r>
            <a:endParaRPr b="0" lang="en-GB" sz="1500" spc="-1" strike="noStrike">
              <a:solidFill>
                <a:srgbClr val="000000"/>
              </a:solidFill>
              <a:latin typeface="Times New Roman"/>
            </a:endParaRPr>
          </a:p>
          <a:p>
            <a:r>
              <a:rPr b="0" lang="en-GB" sz="1500" spc="-1" strike="noStrike">
                <a:solidFill>
                  <a:srgbClr val="000000"/>
                </a:solidFill>
                <a:latin typeface="Times New Roman"/>
              </a:rPr>
              <a:t>- Rf = 100kΩ</a:t>
            </a:r>
            <a:endParaRPr b="0" lang="en-GB" sz="1500" spc="-1" strike="noStrike">
              <a:solidFill>
                <a:srgbClr val="000000"/>
              </a:solidFill>
              <a:latin typeface="Times New Roman"/>
            </a:endParaRPr>
          </a:p>
          <a:p>
            <a:r>
              <a:rPr b="0" lang="en-GB" sz="1500" spc="-1" strike="noStrike">
                <a:solidFill>
                  <a:srgbClr val="000000"/>
                </a:solidFill>
                <a:latin typeface="Times New Roman"/>
              </a:rPr>
              <a:t>- Rh = 195kΩ</a:t>
            </a:r>
            <a:endParaRPr b="0" lang="en-GB" sz="1500" spc="-1" strike="noStrike">
              <a:solidFill>
                <a:srgbClr val="000000"/>
              </a:solidFill>
              <a:latin typeface="Times New Roman"/>
            </a:endParaRPr>
          </a:p>
          <a:p>
            <a:r>
              <a:rPr b="0" lang="en-GB" sz="1500" spc="-1" strike="noStrike">
                <a:solidFill>
                  <a:srgbClr val="000000"/>
                </a:solidFill>
                <a:latin typeface="Times New Roman"/>
              </a:rPr>
              <a:t>- Rl = 24kΩ</a:t>
            </a:r>
            <a:endParaRPr b="0" lang="en-GB" sz="1500" spc="-1" strike="noStrike">
              <a:solidFill>
                <a:srgbClr val="000000"/>
              </a:solidFill>
              <a:latin typeface="Times New Roman"/>
            </a:endParaRPr>
          </a:p>
        </p:txBody>
      </p:sp>
      <p:pic>
        <p:nvPicPr>
          <p:cNvPr id="272" name="" descr=""/>
          <p:cNvPicPr/>
          <p:nvPr/>
        </p:nvPicPr>
        <p:blipFill>
          <a:blip r:embed="rId3"/>
          <a:stretch/>
        </p:blipFill>
        <p:spPr>
          <a:xfrm>
            <a:off x="3200400" y="4228920"/>
            <a:ext cx="4228560" cy="1028880"/>
          </a:xfrm>
          <a:prstGeom prst="rect">
            <a:avLst/>
          </a:prstGeom>
          <a:ln w="0">
            <a:noFill/>
          </a:ln>
        </p:spPr>
      </p:pic>
      <p:pic>
        <p:nvPicPr>
          <p:cNvPr id="273" name="" descr=""/>
          <p:cNvPicPr/>
          <p:nvPr/>
        </p:nvPicPr>
        <p:blipFill>
          <a:blip r:embed="rId4"/>
          <a:stretch/>
        </p:blipFill>
        <p:spPr>
          <a:xfrm>
            <a:off x="7657920" y="4146840"/>
            <a:ext cx="4000320" cy="996480"/>
          </a:xfrm>
          <a:prstGeom prst="rect">
            <a:avLst/>
          </a:prstGeom>
          <a:ln w="0">
            <a:noFill/>
          </a:ln>
        </p:spPr>
      </p:pic>
      <p:pic>
        <p:nvPicPr>
          <p:cNvPr id="274" name="" descr=""/>
          <p:cNvPicPr/>
          <p:nvPr/>
        </p:nvPicPr>
        <p:blipFill>
          <a:blip r:embed="rId5"/>
          <a:stretch/>
        </p:blipFill>
        <p:spPr>
          <a:xfrm>
            <a:off x="7676280" y="5257800"/>
            <a:ext cx="4210920" cy="109656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5" name="" descr=""/>
          <p:cNvPicPr/>
          <p:nvPr/>
        </p:nvPicPr>
        <p:blipFill>
          <a:blip r:embed="rId1"/>
          <a:stretch/>
        </p:blipFill>
        <p:spPr>
          <a:xfrm>
            <a:off x="0" y="0"/>
            <a:ext cx="12191760" cy="504360"/>
          </a:xfrm>
          <a:prstGeom prst="rect">
            <a:avLst/>
          </a:prstGeom>
          <a:ln w="0">
            <a:noFill/>
          </a:ln>
        </p:spPr>
      </p:pic>
      <p:sp>
        <p:nvSpPr>
          <p:cNvPr id="276"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4. Conditioning circuit.</a:t>
            </a:r>
            <a:endParaRPr b="0" lang="en-GB" sz="2200" spc="-1" strike="noStrike">
              <a:solidFill>
                <a:srgbClr val="000000"/>
              </a:solidFill>
              <a:latin typeface="Times New Roman"/>
            </a:endParaRPr>
          </a:p>
        </p:txBody>
      </p:sp>
      <p:sp>
        <p:nvSpPr>
          <p:cNvPr id="277" name=""/>
          <p:cNvSpPr txBox="1"/>
          <p:nvPr/>
        </p:nvSpPr>
        <p:spPr>
          <a:xfrm>
            <a:off x="10287000" y="6520680"/>
            <a:ext cx="1904760" cy="337320"/>
          </a:xfrm>
          <a:prstGeom prst="rect">
            <a:avLst/>
          </a:prstGeom>
          <a:noFill/>
          <a:ln w="0">
            <a:noFill/>
          </a:ln>
        </p:spPr>
        <p:txBody>
          <a:bodyPr lIns="0" rIns="0" tIns="0" bIns="0" anchor="t">
            <a:noAutofit/>
          </a:bodyPr>
          <a:p>
            <a:pPr algn="ctr"/>
            <a:fld id="{BF3A8705-BDE7-4F06-983F-E8480BCEC755}"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7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79" name=""/>
          <p:cNvSpPr txBox="1"/>
          <p:nvPr/>
        </p:nvSpPr>
        <p:spPr>
          <a:xfrm>
            <a:off x="7315200" y="1371960"/>
            <a:ext cx="4686480" cy="4686120"/>
          </a:xfrm>
          <a:prstGeom prst="rect">
            <a:avLst/>
          </a:prstGeom>
          <a:noFill/>
          <a:ln w="0">
            <a:noFill/>
          </a:ln>
        </p:spPr>
        <p:txBody>
          <a:bodyPr lIns="0" rIns="0" tIns="0" bIns="0" anchor="t">
            <a:noAutofit/>
          </a:bodyPr>
          <a:p>
            <a:r>
              <a:rPr b="0" lang="en-GB" sz="1500" spc="-1" strike="noStrike">
                <a:solidFill>
                  <a:srgbClr val="000000"/>
                </a:solidFill>
                <a:latin typeface="Times New Roman"/>
              </a:rPr>
              <a:t>In the </a:t>
            </a:r>
            <a:r>
              <a:rPr b="1" lang="en-GB" sz="1500" spc="-1" strike="noStrike">
                <a:solidFill>
                  <a:srgbClr val="000000"/>
                </a:solidFill>
                <a:latin typeface="Times New Roman"/>
              </a:rPr>
              <a:t>task 4.4 </a:t>
            </a:r>
            <a:r>
              <a:rPr b="0" lang="en-GB" sz="1500" spc="-1" strike="noStrike">
                <a:solidFill>
                  <a:srgbClr val="000000"/>
                </a:solidFill>
                <a:latin typeface="Times New Roman"/>
              </a:rPr>
              <a:t>we show the values corresponding with the temperature set at 25ºC</a:t>
            </a:r>
            <a:endParaRPr b="0" lang="en-GB" sz="1500" spc="-1" strike="noStrike">
              <a:solidFill>
                <a:srgbClr val="000000"/>
              </a:solidFill>
              <a:latin typeface="Times New Roman"/>
            </a:endParaRPr>
          </a:p>
          <a:p>
            <a:endParaRPr b="0" lang="en-GB" sz="1800" spc="-1" strike="noStrike">
              <a:solidFill>
                <a:srgbClr val="000000"/>
              </a:solidFill>
              <a:latin typeface="Times New Roman"/>
            </a:endParaRPr>
          </a:p>
          <a:p>
            <a:r>
              <a:rPr b="0" lang="en-GB" sz="1500" spc="-1" strike="noStrike">
                <a:solidFill>
                  <a:srgbClr val="000000"/>
                </a:solidFill>
                <a:latin typeface="Times New Roman"/>
              </a:rPr>
              <a:t>The Operational Amplifier send the corresponding value converted to voltmeter Vopamp, it shows 1.69V.</a:t>
            </a:r>
            <a:endParaRPr b="0" lang="en-GB" sz="1500" spc="-1" strike="noStrike">
              <a:solidFill>
                <a:srgbClr val="000000"/>
              </a:solidFill>
              <a:latin typeface="Times New Roman"/>
            </a:endParaRPr>
          </a:p>
          <a:p>
            <a:endParaRPr b="0" lang="en-GB" sz="1500" spc="-1" strike="noStrike">
              <a:solidFill>
                <a:srgbClr val="000000"/>
              </a:solidFill>
              <a:latin typeface="Times New Roman"/>
            </a:endParaRPr>
          </a:p>
          <a:p>
            <a:r>
              <a:rPr b="0" lang="en-GB" sz="1500" spc="-1" strike="noStrike">
                <a:solidFill>
                  <a:srgbClr val="000000"/>
                </a:solidFill>
                <a:latin typeface="Times New Roman"/>
              </a:rPr>
              <a:t>As expected the voltmeter for the temperature sensor, Vsensor shows 749mV.</a:t>
            </a:r>
            <a:endParaRPr b="0" lang="en-GB" sz="1500" spc="-1" strike="noStrike">
              <a:solidFill>
                <a:srgbClr val="000000"/>
              </a:solidFill>
              <a:latin typeface="Times New Roman"/>
            </a:endParaRPr>
          </a:p>
        </p:txBody>
      </p:sp>
      <p:pic>
        <p:nvPicPr>
          <p:cNvPr id="280" name="" descr=""/>
          <p:cNvPicPr/>
          <p:nvPr/>
        </p:nvPicPr>
        <p:blipFill>
          <a:blip r:embed="rId2"/>
          <a:stretch/>
        </p:blipFill>
        <p:spPr>
          <a:xfrm>
            <a:off x="390600" y="1485720"/>
            <a:ext cx="6467400" cy="457848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1" name="" descr=""/>
          <p:cNvPicPr/>
          <p:nvPr/>
        </p:nvPicPr>
        <p:blipFill>
          <a:blip r:embed="rId1"/>
          <a:stretch/>
        </p:blipFill>
        <p:spPr>
          <a:xfrm>
            <a:off x="0" y="0"/>
            <a:ext cx="12191760" cy="504360"/>
          </a:xfrm>
          <a:prstGeom prst="rect">
            <a:avLst/>
          </a:prstGeom>
          <a:ln w="0">
            <a:noFill/>
          </a:ln>
        </p:spPr>
      </p:pic>
      <p:sp>
        <p:nvSpPr>
          <p:cNvPr id="282" name=""/>
          <p:cNvSpPr txBox="1"/>
          <p:nvPr/>
        </p:nvSpPr>
        <p:spPr>
          <a:xfrm>
            <a:off x="364680" y="697320"/>
            <a:ext cx="523116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Laboratory 1 Report</a:t>
            </a:r>
            <a:endParaRPr b="0" lang="en-GB" sz="3609" spc="-1" strike="noStrike">
              <a:solidFill>
                <a:srgbClr val="000000"/>
              </a:solidFill>
              <a:latin typeface="Times New Roman"/>
            </a:endParaRPr>
          </a:p>
        </p:txBody>
      </p:sp>
      <p:sp>
        <p:nvSpPr>
          <p:cNvPr id="283" name=""/>
          <p:cNvSpPr txBox="1"/>
          <p:nvPr/>
        </p:nvSpPr>
        <p:spPr>
          <a:xfrm>
            <a:off x="456120" y="1635120"/>
            <a:ext cx="8802000" cy="68004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1 – Schematics of a mixed signal circuit.</a:t>
            </a:r>
            <a:endParaRPr b="0" lang="en-GB" sz="2400" spc="-1" strike="noStrike">
              <a:solidFill>
                <a:srgbClr val="000000"/>
              </a:solidFill>
              <a:latin typeface="Times New Roman"/>
            </a:endParaRPr>
          </a:p>
        </p:txBody>
      </p:sp>
      <p:sp>
        <p:nvSpPr>
          <p:cNvPr id="284" name=""/>
          <p:cNvSpPr txBox="1"/>
          <p:nvPr/>
        </p:nvSpPr>
        <p:spPr>
          <a:xfrm>
            <a:off x="456120" y="2131200"/>
            <a:ext cx="606312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2 – Programming the Arduino board.</a:t>
            </a:r>
            <a:endParaRPr b="0" lang="en-GB" sz="2400" spc="-1" strike="noStrike">
              <a:solidFill>
                <a:srgbClr val="000000"/>
              </a:solidFill>
              <a:latin typeface="Times New Roman"/>
            </a:endParaRPr>
          </a:p>
        </p:txBody>
      </p:sp>
      <p:sp>
        <p:nvSpPr>
          <p:cNvPr id="285" name=""/>
          <p:cNvSpPr txBox="1"/>
          <p:nvPr/>
        </p:nvSpPr>
        <p:spPr>
          <a:xfrm>
            <a:off x="456120" y="2626920"/>
            <a:ext cx="5469840" cy="340200"/>
          </a:xfrm>
          <a:prstGeom prst="rect">
            <a:avLst/>
          </a:prstGeom>
          <a:noFill/>
          <a:ln w="0">
            <a:noFill/>
          </a:ln>
        </p:spPr>
        <p:txBody>
          <a:bodyPr lIns="0" rIns="0" tIns="0" bIns="0" anchor="t">
            <a:noAutofit/>
          </a:bodyPr>
          <a:p>
            <a:r>
              <a:rPr b="1" lang="en-GB" sz="2400" spc="-1" strike="noStrike">
                <a:solidFill>
                  <a:srgbClr val="b2b2b2"/>
                </a:solidFill>
                <a:latin typeface="Arial"/>
                <a:ea typeface="Arial"/>
              </a:rPr>
              <a:t>►</a:t>
            </a:r>
            <a:r>
              <a:rPr b="1" lang="en-GB" sz="2400" spc="-1" strike="noStrike">
                <a:solidFill>
                  <a:srgbClr val="000000"/>
                </a:solidFill>
                <a:latin typeface="Arial"/>
                <a:ea typeface="Arial"/>
              </a:rPr>
              <a:t> </a:t>
            </a:r>
            <a:r>
              <a:rPr b="0" lang="en-GB" sz="2400" spc="-1" strike="noStrike">
                <a:solidFill>
                  <a:srgbClr val="b2b2b2"/>
                </a:solidFill>
                <a:latin typeface="Arial"/>
                <a:ea typeface="Arial"/>
              </a:rPr>
              <a:t>Task 3 – Introducing the LCD display.</a:t>
            </a:r>
            <a:endParaRPr b="0" lang="en-GB" sz="2400" spc="-1" strike="noStrike">
              <a:solidFill>
                <a:srgbClr val="000000"/>
              </a:solidFill>
              <a:latin typeface="Times New Roman"/>
            </a:endParaRPr>
          </a:p>
        </p:txBody>
      </p:sp>
      <p:sp>
        <p:nvSpPr>
          <p:cNvPr id="286" name=""/>
          <p:cNvSpPr txBox="1"/>
          <p:nvPr/>
        </p:nvSpPr>
        <p:spPr>
          <a:xfrm>
            <a:off x="456120" y="3113640"/>
            <a:ext cx="4637880" cy="340200"/>
          </a:xfrm>
          <a:prstGeom prst="rect">
            <a:avLst/>
          </a:prstGeom>
          <a:noFill/>
          <a:ln w="0">
            <a:noFill/>
          </a:ln>
        </p:spPr>
        <p:txBody>
          <a:bodyPr lIns="0" rIns="0" tIns="0" bIns="0" anchor="t">
            <a:noAutofit/>
          </a:bodyPr>
          <a:p>
            <a:r>
              <a:rPr b="0" lang="en-GB" sz="2400" spc="-1" strike="noStrike">
                <a:solidFill>
                  <a:srgbClr val="b2b2b2"/>
                </a:solidFill>
                <a:latin typeface="Arial"/>
                <a:ea typeface="Arial"/>
              </a:rPr>
              <a:t>► </a:t>
            </a:r>
            <a:r>
              <a:rPr b="0" lang="en-GB" sz="2400" spc="-1" strike="noStrike">
                <a:solidFill>
                  <a:srgbClr val="b2b2b2"/>
                </a:solidFill>
                <a:latin typeface="Arial"/>
                <a:ea typeface="Arial"/>
              </a:rPr>
              <a:t>Task 4 – Conditioning circuit.</a:t>
            </a:r>
            <a:endParaRPr b="0" lang="en-GB" sz="2400" spc="-1" strike="noStrike">
              <a:solidFill>
                <a:srgbClr val="000000"/>
              </a:solidFill>
              <a:latin typeface="Times New Roman"/>
            </a:endParaRPr>
          </a:p>
        </p:txBody>
      </p:sp>
      <p:sp>
        <p:nvSpPr>
          <p:cNvPr id="287" name=""/>
          <p:cNvSpPr txBox="1"/>
          <p:nvPr/>
        </p:nvSpPr>
        <p:spPr>
          <a:xfrm>
            <a:off x="9829800" y="6520680"/>
            <a:ext cx="2338920" cy="337320"/>
          </a:xfrm>
          <a:prstGeom prst="rect">
            <a:avLst/>
          </a:prstGeom>
          <a:noFill/>
          <a:ln w="0">
            <a:noFill/>
          </a:ln>
        </p:spPr>
        <p:txBody>
          <a:bodyPr lIns="0" rIns="0" tIns="0" bIns="0" anchor="t">
            <a:noAutofit/>
          </a:bodyPr>
          <a:p>
            <a:pPr algn="ctr"/>
            <a:fld id="{6104C920-F8B7-4F60-A4CD-75EA96D0F4C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88" name=""/>
          <p:cNvSpPr txBox="1"/>
          <p:nvPr/>
        </p:nvSpPr>
        <p:spPr>
          <a:xfrm>
            <a:off x="457200" y="3582000"/>
            <a:ext cx="4800600" cy="680040"/>
          </a:xfrm>
          <a:prstGeom prst="rect">
            <a:avLst/>
          </a:prstGeom>
          <a:noFill/>
          <a:ln w="0">
            <a:noFill/>
          </a:ln>
        </p:spPr>
        <p:txBody>
          <a:bodyPr lIns="0" rIns="0" tIns="0" bIns="0" anchor="t">
            <a:noAutofit/>
          </a:bodyPr>
          <a:p>
            <a:r>
              <a:rPr b="0" lang="en-GB" sz="2400" spc="-1" strike="noStrike">
                <a:solidFill>
                  <a:srgbClr val="90292a"/>
                </a:solidFill>
                <a:latin typeface="Arial"/>
                <a:ea typeface="Arial"/>
              </a:rPr>
              <a:t>►</a:t>
            </a:r>
            <a:r>
              <a:rPr b="0" lang="en-GB" sz="2400" spc="-1" strike="noStrike">
                <a:solidFill>
                  <a:srgbClr val="b2b2b2"/>
                </a:solidFill>
                <a:latin typeface="Arial"/>
                <a:ea typeface="Arial"/>
              </a:rPr>
              <a:t> </a:t>
            </a:r>
            <a:r>
              <a:rPr b="1" lang="en-GB" sz="2400" spc="-1" strike="noStrike">
                <a:solidFill>
                  <a:srgbClr val="000000"/>
                </a:solidFill>
                <a:latin typeface="Arial"/>
                <a:ea typeface="Arial"/>
              </a:rPr>
              <a:t>Task 5 – Results.</a:t>
            </a:r>
            <a:endParaRPr b="0" lang="en-GB" sz="2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9" name="" descr=""/>
          <p:cNvPicPr/>
          <p:nvPr/>
        </p:nvPicPr>
        <p:blipFill>
          <a:blip r:embed="rId1"/>
          <a:stretch/>
        </p:blipFill>
        <p:spPr>
          <a:xfrm>
            <a:off x="0" y="0"/>
            <a:ext cx="12191760" cy="504360"/>
          </a:xfrm>
          <a:prstGeom prst="rect">
            <a:avLst/>
          </a:prstGeom>
          <a:ln w="0">
            <a:noFill/>
          </a:ln>
        </p:spPr>
      </p:pic>
      <p:sp>
        <p:nvSpPr>
          <p:cNvPr id="290"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291" name=""/>
          <p:cNvSpPr txBox="1"/>
          <p:nvPr/>
        </p:nvSpPr>
        <p:spPr>
          <a:xfrm>
            <a:off x="10287000" y="6520680"/>
            <a:ext cx="1904760" cy="337320"/>
          </a:xfrm>
          <a:prstGeom prst="rect">
            <a:avLst/>
          </a:prstGeom>
          <a:noFill/>
          <a:ln w="0">
            <a:noFill/>
          </a:ln>
        </p:spPr>
        <p:txBody>
          <a:bodyPr lIns="0" rIns="0" tIns="0" bIns="0" anchor="t">
            <a:noAutofit/>
          </a:bodyPr>
          <a:p>
            <a:pPr algn="ctr"/>
            <a:fld id="{70CB1939-CCF7-494C-8EAD-EE99972A9EBB}"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9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93" name=""/>
          <p:cNvSpPr txBox="1"/>
          <p:nvPr/>
        </p:nvSpPr>
        <p:spPr>
          <a:xfrm>
            <a:off x="533520" y="5715000"/>
            <a:ext cx="11010600" cy="783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a:t>
            </a:r>
            <a:r>
              <a:rPr b="1" lang="en-GB" sz="1800" spc="-1" strike="noStrike">
                <a:solidFill>
                  <a:srgbClr val="000000"/>
                </a:solidFill>
                <a:latin typeface="Times New Roman"/>
              </a:rPr>
              <a:t>task 5 </a:t>
            </a:r>
            <a:r>
              <a:rPr b="0" lang="en-GB" sz="1800" spc="-1" strike="noStrike">
                <a:solidFill>
                  <a:srgbClr val="000000"/>
                </a:solidFill>
                <a:latin typeface="Times New Roman"/>
              </a:rPr>
              <a:t>we will put all together and show the values requested on LCD display and on the Serial Monitor. In the next slides we will show the entire code used and the schematic view. Also, we fill the table V with the requested values.</a:t>
            </a:r>
            <a:endParaRPr b="0" lang="en-GB" sz="1800" spc="-1" strike="noStrike">
              <a:solidFill>
                <a:srgbClr val="000000"/>
              </a:solidFill>
              <a:latin typeface="Times New Roman"/>
            </a:endParaRPr>
          </a:p>
        </p:txBody>
      </p:sp>
      <p:pic>
        <p:nvPicPr>
          <p:cNvPr id="294" name="" descr=""/>
          <p:cNvPicPr/>
          <p:nvPr/>
        </p:nvPicPr>
        <p:blipFill>
          <a:blip r:embed="rId2"/>
          <a:stretch/>
        </p:blipFill>
        <p:spPr>
          <a:xfrm>
            <a:off x="571320" y="1356840"/>
            <a:ext cx="10493280" cy="424368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5" name="" descr=""/>
          <p:cNvPicPr/>
          <p:nvPr/>
        </p:nvPicPr>
        <p:blipFill>
          <a:blip r:embed="rId1"/>
          <a:stretch/>
        </p:blipFill>
        <p:spPr>
          <a:xfrm>
            <a:off x="0" y="0"/>
            <a:ext cx="12191760" cy="504360"/>
          </a:xfrm>
          <a:prstGeom prst="rect">
            <a:avLst/>
          </a:prstGeom>
          <a:ln w="0">
            <a:noFill/>
          </a:ln>
        </p:spPr>
      </p:pic>
      <p:sp>
        <p:nvSpPr>
          <p:cNvPr id="296"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297" name=""/>
          <p:cNvSpPr txBox="1"/>
          <p:nvPr/>
        </p:nvSpPr>
        <p:spPr>
          <a:xfrm>
            <a:off x="10287000" y="6520680"/>
            <a:ext cx="1904760" cy="337320"/>
          </a:xfrm>
          <a:prstGeom prst="rect">
            <a:avLst/>
          </a:prstGeom>
          <a:noFill/>
          <a:ln w="0">
            <a:noFill/>
          </a:ln>
        </p:spPr>
        <p:txBody>
          <a:bodyPr lIns="0" rIns="0" tIns="0" bIns="0" anchor="t">
            <a:noAutofit/>
          </a:bodyPr>
          <a:p>
            <a:pPr algn="ctr"/>
            <a:fld id="{07D893A3-FBEF-42A6-A573-F4713D840CE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29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299" name=""/>
          <p:cNvSpPr txBox="1"/>
          <p:nvPr/>
        </p:nvSpPr>
        <p:spPr>
          <a:xfrm>
            <a:off x="533520" y="5715000"/>
            <a:ext cx="11010600" cy="783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screenshot the temperature Tmin has been configured at 0ºC with the following values: ADC=56; VA=273mV;</a:t>
            </a:r>
            <a:br>
              <a:rPr sz="1800"/>
            </a:br>
            <a:r>
              <a:rPr b="0" lang="en-GB" sz="1800" spc="-1" strike="noStrike">
                <a:solidFill>
                  <a:srgbClr val="000000"/>
                </a:solidFill>
                <a:latin typeface="Times New Roman"/>
              </a:rPr>
              <a:t>Vs=498mV.</a:t>
            </a:r>
            <a:endParaRPr b="0" lang="en-GB" sz="1800" spc="-1" strike="noStrike">
              <a:solidFill>
                <a:srgbClr val="000000"/>
              </a:solidFill>
              <a:latin typeface="Times New Roman"/>
            </a:endParaRPr>
          </a:p>
        </p:txBody>
      </p:sp>
      <p:pic>
        <p:nvPicPr>
          <p:cNvPr id="300" name="" descr=""/>
          <p:cNvPicPr/>
          <p:nvPr/>
        </p:nvPicPr>
        <p:blipFill>
          <a:blip r:embed="rId2"/>
          <a:stretch/>
        </p:blipFill>
        <p:spPr>
          <a:xfrm>
            <a:off x="38520" y="1250640"/>
            <a:ext cx="12191400" cy="446436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1" name="" descr=""/>
          <p:cNvPicPr/>
          <p:nvPr/>
        </p:nvPicPr>
        <p:blipFill>
          <a:blip r:embed="rId1"/>
          <a:stretch/>
        </p:blipFill>
        <p:spPr>
          <a:xfrm>
            <a:off x="0" y="0"/>
            <a:ext cx="12191760" cy="504360"/>
          </a:xfrm>
          <a:prstGeom prst="rect">
            <a:avLst/>
          </a:prstGeom>
          <a:ln w="0">
            <a:noFill/>
          </a:ln>
        </p:spPr>
      </p:pic>
      <p:sp>
        <p:nvSpPr>
          <p:cNvPr id="302"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03" name=""/>
          <p:cNvSpPr txBox="1"/>
          <p:nvPr/>
        </p:nvSpPr>
        <p:spPr>
          <a:xfrm>
            <a:off x="10287000" y="6520680"/>
            <a:ext cx="1904760" cy="337320"/>
          </a:xfrm>
          <a:prstGeom prst="rect">
            <a:avLst/>
          </a:prstGeom>
          <a:noFill/>
          <a:ln w="0">
            <a:noFill/>
          </a:ln>
        </p:spPr>
        <p:txBody>
          <a:bodyPr lIns="0" rIns="0" tIns="0" bIns="0" anchor="t">
            <a:noAutofit/>
          </a:bodyPr>
          <a:p>
            <a:pPr algn="ctr"/>
            <a:fld id="{83F4CBD6-AFD4-4011-AC5A-EC80F274007C}"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04"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305" name=""/>
          <p:cNvSpPr txBox="1"/>
          <p:nvPr/>
        </p:nvSpPr>
        <p:spPr>
          <a:xfrm>
            <a:off x="533520" y="5715000"/>
            <a:ext cx="11010600" cy="783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screenshot the temperature T1 has been configured at 33ºC with the following values: ADC=439; VA=2145mV;</a:t>
            </a:r>
            <a:br>
              <a:rPr sz="1800"/>
            </a:br>
            <a:r>
              <a:rPr b="0" lang="en-GB" sz="1800" spc="-1" strike="noStrike">
                <a:solidFill>
                  <a:srgbClr val="000000"/>
                </a:solidFill>
                <a:latin typeface="Times New Roman"/>
              </a:rPr>
              <a:t>Vs=830mV.</a:t>
            </a:r>
            <a:endParaRPr b="0" lang="en-GB" sz="1800" spc="-1" strike="noStrike">
              <a:solidFill>
                <a:srgbClr val="000000"/>
              </a:solidFill>
              <a:latin typeface="Times New Roman"/>
            </a:endParaRPr>
          </a:p>
        </p:txBody>
      </p:sp>
      <p:pic>
        <p:nvPicPr>
          <p:cNvPr id="306" name="" descr=""/>
          <p:cNvPicPr/>
          <p:nvPr/>
        </p:nvPicPr>
        <p:blipFill>
          <a:blip r:embed="rId2"/>
          <a:stretch/>
        </p:blipFill>
        <p:spPr>
          <a:xfrm>
            <a:off x="479520" y="1257120"/>
            <a:ext cx="10950480" cy="445860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7" name="" descr=""/>
          <p:cNvPicPr/>
          <p:nvPr/>
        </p:nvPicPr>
        <p:blipFill>
          <a:blip r:embed="rId1"/>
          <a:stretch/>
        </p:blipFill>
        <p:spPr>
          <a:xfrm>
            <a:off x="0" y="0"/>
            <a:ext cx="12191760" cy="504360"/>
          </a:xfrm>
          <a:prstGeom prst="rect">
            <a:avLst/>
          </a:prstGeom>
          <a:ln w="0">
            <a:noFill/>
          </a:ln>
        </p:spPr>
      </p:pic>
      <p:sp>
        <p:nvSpPr>
          <p:cNvPr id="308"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09" name=""/>
          <p:cNvSpPr txBox="1"/>
          <p:nvPr/>
        </p:nvSpPr>
        <p:spPr>
          <a:xfrm>
            <a:off x="10287000" y="6520680"/>
            <a:ext cx="1904760" cy="337320"/>
          </a:xfrm>
          <a:prstGeom prst="rect">
            <a:avLst/>
          </a:prstGeom>
          <a:noFill/>
          <a:ln w="0">
            <a:noFill/>
          </a:ln>
        </p:spPr>
        <p:txBody>
          <a:bodyPr lIns="0" rIns="0" tIns="0" bIns="0" anchor="t">
            <a:noAutofit/>
          </a:bodyPr>
          <a:p>
            <a:pPr algn="ctr"/>
            <a:fld id="{2CFE025D-CC54-4302-BF39-9D4C4296C494}"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10"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311" name=""/>
          <p:cNvSpPr txBox="1"/>
          <p:nvPr/>
        </p:nvSpPr>
        <p:spPr>
          <a:xfrm>
            <a:off x="533520" y="5715000"/>
            <a:ext cx="11010600" cy="783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screenshot the temperature T2 has been configured at 56ºC with the following values: ADC=706; VA=3450mV;</a:t>
            </a:r>
            <a:br>
              <a:rPr sz="1800"/>
            </a:br>
            <a:r>
              <a:rPr b="0" lang="en-GB" sz="1800" spc="-1" strike="noStrike">
                <a:solidFill>
                  <a:srgbClr val="000000"/>
                </a:solidFill>
                <a:latin typeface="Times New Roman"/>
              </a:rPr>
              <a:t>Vs=1060mV.</a:t>
            </a:r>
            <a:endParaRPr b="0" lang="en-GB" sz="1800" spc="-1" strike="noStrike">
              <a:solidFill>
                <a:srgbClr val="000000"/>
              </a:solidFill>
              <a:latin typeface="Times New Roman"/>
            </a:endParaRPr>
          </a:p>
        </p:txBody>
      </p:sp>
      <p:pic>
        <p:nvPicPr>
          <p:cNvPr id="312" name="" descr=""/>
          <p:cNvPicPr/>
          <p:nvPr/>
        </p:nvPicPr>
        <p:blipFill>
          <a:blip r:embed="rId2"/>
          <a:stretch/>
        </p:blipFill>
        <p:spPr>
          <a:xfrm>
            <a:off x="593640" y="1266840"/>
            <a:ext cx="10264680" cy="433368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3" name="" descr=""/>
          <p:cNvPicPr/>
          <p:nvPr/>
        </p:nvPicPr>
        <p:blipFill>
          <a:blip r:embed="rId1"/>
          <a:stretch/>
        </p:blipFill>
        <p:spPr>
          <a:xfrm>
            <a:off x="0" y="0"/>
            <a:ext cx="12191760" cy="504360"/>
          </a:xfrm>
          <a:prstGeom prst="rect">
            <a:avLst/>
          </a:prstGeom>
          <a:ln w="0">
            <a:noFill/>
          </a:ln>
        </p:spPr>
      </p:pic>
      <p:sp>
        <p:nvSpPr>
          <p:cNvPr id="314"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15" name=""/>
          <p:cNvSpPr txBox="1"/>
          <p:nvPr/>
        </p:nvSpPr>
        <p:spPr>
          <a:xfrm>
            <a:off x="10287000" y="6520680"/>
            <a:ext cx="1904760" cy="337320"/>
          </a:xfrm>
          <a:prstGeom prst="rect">
            <a:avLst/>
          </a:prstGeom>
          <a:noFill/>
          <a:ln w="0">
            <a:noFill/>
          </a:ln>
        </p:spPr>
        <p:txBody>
          <a:bodyPr lIns="0" rIns="0" tIns="0" bIns="0" anchor="t">
            <a:noAutofit/>
          </a:bodyPr>
          <a:p>
            <a:pPr algn="ctr"/>
            <a:fld id="{04B484B4-8589-48B3-B116-8E7E7886ED8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16"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sp>
        <p:nvSpPr>
          <p:cNvPr id="317" name=""/>
          <p:cNvSpPr txBox="1"/>
          <p:nvPr/>
        </p:nvSpPr>
        <p:spPr>
          <a:xfrm>
            <a:off x="533520" y="5715000"/>
            <a:ext cx="11010600" cy="783000"/>
          </a:xfrm>
          <a:prstGeom prst="rect">
            <a:avLst/>
          </a:prstGeom>
          <a:noFill/>
          <a:ln w="0">
            <a:noFill/>
          </a:ln>
        </p:spPr>
        <p:txBody>
          <a:bodyPr lIns="0" rIns="0" tIns="0" bIns="0" anchor="t">
            <a:noAutofit/>
          </a:bodyPr>
          <a:p>
            <a:r>
              <a:rPr b="0" lang="en-GB" sz="1800" spc="-1" strike="noStrike">
                <a:solidFill>
                  <a:srgbClr val="000000"/>
                </a:solidFill>
                <a:latin typeface="Times New Roman"/>
              </a:rPr>
              <a:t>In the screenshot the temperature Tmax has been configured at 80ºC with the following values: ADC=984; VA=4809mV; Vs=1300mV.</a:t>
            </a:r>
            <a:endParaRPr b="0" lang="en-GB" sz="1800" spc="-1" strike="noStrike">
              <a:solidFill>
                <a:srgbClr val="000000"/>
              </a:solidFill>
              <a:latin typeface="Times New Roman"/>
            </a:endParaRPr>
          </a:p>
        </p:txBody>
      </p:sp>
      <p:pic>
        <p:nvPicPr>
          <p:cNvPr id="318" name="" descr=""/>
          <p:cNvPicPr/>
          <p:nvPr/>
        </p:nvPicPr>
        <p:blipFill>
          <a:blip r:embed="rId2"/>
          <a:stretch/>
        </p:blipFill>
        <p:spPr>
          <a:xfrm>
            <a:off x="797040" y="1371600"/>
            <a:ext cx="10632960" cy="420876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9" name="" descr=""/>
          <p:cNvPicPr/>
          <p:nvPr/>
        </p:nvPicPr>
        <p:blipFill>
          <a:blip r:embed="rId1"/>
          <a:stretch/>
        </p:blipFill>
        <p:spPr>
          <a:xfrm>
            <a:off x="0" y="0"/>
            <a:ext cx="12191760" cy="504360"/>
          </a:xfrm>
          <a:prstGeom prst="rect">
            <a:avLst/>
          </a:prstGeom>
          <a:ln w="0">
            <a:noFill/>
          </a:ln>
        </p:spPr>
      </p:pic>
      <p:sp>
        <p:nvSpPr>
          <p:cNvPr id="320"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21" name=""/>
          <p:cNvSpPr txBox="1"/>
          <p:nvPr/>
        </p:nvSpPr>
        <p:spPr>
          <a:xfrm>
            <a:off x="10287000" y="6520680"/>
            <a:ext cx="1904760" cy="337320"/>
          </a:xfrm>
          <a:prstGeom prst="rect">
            <a:avLst/>
          </a:prstGeom>
          <a:noFill/>
          <a:ln w="0">
            <a:noFill/>
          </a:ln>
        </p:spPr>
        <p:txBody>
          <a:bodyPr lIns="0" rIns="0" tIns="0" bIns="0" anchor="t">
            <a:noAutofit/>
          </a:bodyPr>
          <a:p>
            <a:pPr algn="ctr"/>
            <a:fld id="{9B796A45-CB4F-4998-B80C-2749EAAF874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22"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323" name="" descr=""/>
          <p:cNvPicPr/>
          <p:nvPr/>
        </p:nvPicPr>
        <p:blipFill>
          <a:blip r:embed="rId2"/>
          <a:stretch/>
        </p:blipFill>
        <p:spPr>
          <a:xfrm>
            <a:off x="342720" y="1322640"/>
            <a:ext cx="4698720" cy="4277880"/>
          </a:xfrm>
          <a:prstGeom prst="rect">
            <a:avLst/>
          </a:prstGeom>
          <a:ln w="0">
            <a:noFill/>
          </a:ln>
        </p:spPr>
      </p:pic>
      <p:pic>
        <p:nvPicPr>
          <p:cNvPr id="324" name="" descr=""/>
          <p:cNvPicPr/>
          <p:nvPr/>
        </p:nvPicPr>
        <p:blipFill>
          <a:blip r:embed="rId3"/>
          <a:stretch/>
        </p:blipFill>
        <p:spPr>
          <a:xfrm>
            <a:off x="6057720" y="1259280"/>
            <a:ext cx="5568120" cy="456984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5" name="" descr=""/>
          <p:cNvPicPr/>
          <p:nvPr/>
        </p:nvPicPr>
        <p:blipFill>
          <a:blip r:embed="rId1"/>
          <a:stretch/>
        </p:blipFill>
        <p:spPr>
          <a:xfrm>
            <a:off x="0" y="0"/>
            <a:ext cx="12191760" cy="504360"/>
          </a:xfrm>
          <a:prstGeom prst="rect">
            <a:avLst/>
          </a:prstGeom>
          <a:ln w="0">
            <a:noFill/>
          </a:ln>
        </p:spPr>
      </p:pic>
      <p:sp>
        <p:nvSpPr>
          <p:cNvPr id="326" name=""/>
          <p:cNvSpPr txBox="1"/>
          <p:nvPr/>
        </p:nvSpPr>
        <p:spPr>
          <a:xfrm>
            <a:off x="341280" y="840600"/>
            <a:ext cx="10288440" cy="41652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27" name=""/>
          <p:cNvSpPr txBox="1"/>
          <p:nvPr/>
        </p:nvSpPr>
        <p:spPr>
          <a:xfrm>
            <a:off x="10287000" y="6520680"/>
            <a:ext cx="1904760" cy="337320"/>
          </a:xfrm>
          <a:prstGeom prst="rect">
            <a:avLst/>
          </a:prstGeom>
          <a:noFill/>
          <a:ln w="0">
            <a:noFill/>
          </a:ln>
        </p:spPr>
        <p:txBody>
          <a:bodyPr lIns="0" rIns="0" tIns="0" bIns="0" anchor="t">
            <a:noAutofit/>
          </a:bodyPr>
          <a:p>
            <a:pPr algn="ctr"/>
            <a:fld id="{2788C345-F446-4B89-8966-325BB4E00DF3}"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sp>
        <p:nvSpPr>
          <p:cNvPr id="328" name=""/>
          <p:cNvSpPr/>
          <p:nvPr/>
        </p:nvSpPr>
        <p:spPr>
          <a:xfrm>
            <a:off x="1828800" y="4343400"/>
            <a:ext cx="571320" cy="571680"/>
          </a:xfrm>
          <a:prstGeom prst="ellipse">
            <a:avLst/>
          </a:prstGeom>
          <a:noFill/>
          <a:ln w="38160">
            <a:solidFill>
              <a:srgbClr val="ffffff"/>
            </a:solidFill>
            <a:round/>
          </a:ln>
        </p:spPr>
        <p:style>
          <a:lnRef idx="0"/>
          <a:fillRef idx="0"/>
          <a:effectRef idx="0"/>
          <a:fontRef idx="minor"/>
        </p:style>
        <p:txBody>
          <a:bodyPr wrap="none" lIns="18720" rIns="18720" tIns="18720" bIns="18720" anchor="ctr">
            <a:noAutofit/>
          </a:bodyPr>
          <a:p>
            <a:endParaRPr b="0" lang="en-GB" sz="2400" spc="-1" strike="noStrike">
              <a:solidFill>
                <a:srgbClr val="000000"/>
              </a:solidFill>
              <a:latin typeface="Times New Roman"/>
            </a:endParaRPr>
          </a:p>
        </p:txBody>
      </p:sp>
      <p:pic>
        <p:nvPicPr>
          <p:cNvPr id="329" name="" descr=""/>
          <p:cNvPicPr/>
          <p:nvPr/>
        </p:nvPicPr>
        <p:blipFill>
          <a:blip r:embed="rId2"/>
          <a:stretch/>
        </p:blipFill>
        <p:spPr>
          <a:xfrm>
            <a:off x="457200" y="1422720"/>
            <a:ext cx="6053400" cy="474948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 descr=""/>
          <p:cNvPicPr/>
          <p:nvPr/>
        </p:nvPicPr>
        <p:blipFill>
          <a:blip r:embed="rId1"/>
          <a:stretch/>
        </p:blipFill>
        <p:spPr>
          <a:xfrm>
            <a:off x="0" y="0"/>
            <a:ext cx="12191760" cy="504360"/>
          </a:xfrm>
          <a:prstGeom prst="rect">
            <a:avLst/>
          </a:prstGeom>
          <a:ln w="0">
            <a:noFill/>
          </a:ln>
        </p:spPr>
      </p:pic>
      <p:sp>
        <p:nvSpPr>
          <p:cNvPr id="331" name=""/>
          <p:cNvSpPr txBox="1"/>
          <p:nvPr/>
        </p:nvSpPr>
        <p:spPr>
          <a:xfrm>
            <a:off x="341280" y="840600"/>
            <a:ext cx="10288440" cy="531000"/>
          </a:xfrm>
          <a:prstGeom prst="rect">
            <a:avLst/>
          </a:prstGeom>
          <a:noFill/>
          <a:ln w="0">
            <a:noFill/>
          </a:ln>
        </p:spPr>
        <p:txBody>
          <a:bodyPr lIns="0" rIns="0" tIns="0" bIns="0" anchor="t">
            <a:noAutofit/>
          </a:bodyPr>
          <a:p>
            <a:r>
              <a:rPr b="1" lang="en-GB" sz="2200" spc="-1" strike="noStrike">
                <a:solidFill>
                  <a:srgbClr val="90292a"/>
                </a:solidFill>
                <a:latin typeface="Arial Black"/>
                <a:ea typeface="Arial Black"/>
              </a:rPr>
              <a:t>Lab1: Task 5. The sensor data acquisition system.</a:t>
            </a:r>
            <a:endParaRPr b="0" lang="en-GB" sz="2200" spc="-1" strike="noStrike">
              <a:solidFill>
                <a:srgbClr val="000000"/>
              </a:solidFill>
              <a:latin typeface="Times New Roman"/>
            </a:endParaRPr>
          </a:p>
        </p:txBody>
      </p:sp>
      <p:sp>
        <p:nvSpPr>
          <p:cNvPr id="332" name=""/>
          <p:cNvSpPr txBox="1"/>
          <p:nvPr/>
        </p:nvSpPr>
        <p:spPr>
          <a:xfrm>
            <a:off x="10287000" y="6520680"/>
            <a:ext cx="1904760" cy="337320"/>
          </a:xfrm>
          <a:prstGeom prst="rect">
            <a:avLst/>
          </a:prstGeom>
          <a:noFill/>
          <a:ln w="0">
            <a:noFill/>
          </a:ln>
        </p:spPr>
        <p:txBody>
          <a:bodyPr lIns="0" rIns="0" tIns="0" bIns="0" anchor="t">
            <a:noAutofit/>
          </a:bodyPr>
          <a:p>
            <a:pPr algn="ctr"/>
            <a:fld id="{813058F0-B472-423C-975B-898470DDD877}" type="slidenum">
              <a:rPr b="0" lang="en-GB" sz="2400" spc="-1" strike="noStrike">
                <a:solidFill>
                  <a:srgbClr val="000000"/>
                </a:solidFill>
                <a:latin typeface="Times New Roman"/>
              </a:rPr>
              <a:t>&lt;number&gt;</a:t>
            </a:fld>
            <a:endParaRPr b="0" lang="en-GB" sz="2400" spc="-1" strike="noStrike">
              <a:solidFill>
                <a:srgbClr val="000000"/>
              </a:solidFill>
              <a:latin typeface="Times New Roman"/>
            </a:endParaRPr>
          </a:p>
        </p:txBody>
      </p:sp>
      <p:graphicFrame>
        <p:nvGraphicFramePr>
          <p:cNvPr id="333" name=""/>
          <p:cNvGraphicFramePr/>
          <p:nvPr/>
        </p:nvGraphicFramePr>
        <p:xfrm>
          <a:off x="207720" y="1969920"/>
          <a:ext cx="11907720" cy="2662920"/>
        </p:xfrm>
        <a:graphic>
          <a:graphicData uri="http://schemas.openxmlformats.org/drawingml/2006/table">
            <a:tbl>
              <a:tblPr/>
              <a:tblGrid>
                <a:gridCol w="2003400"/>
                <a:gridCol w="1175760"/>
                <a:gridCol w="1190880"/>
                <a:gridCol w="1190880"/>
                <a:gridCol w="1226160"/>
                <a:gridCol w="1226160"/>
                <a:gridCol w="1226160"/>
                <a:gridCol w="1402200"/>
                <a:gridCol w="1266480"/>
              </a:tblGrid>
              <a:tr h="532440">
                <a:tc>
                  <a:txBody>
                    <a:bodyPr lIns="36000" rIns="36000" tIns="36000" bIns="36000" anchor="ctr">
                      <a:noAutofit/>
                    </a:bodyPr>
                    <a:p>
                      <a:pPr algn="ctr"/>
                      <a:endParaRPr b="0" lang="en-GB" sz="1400" spc="-1" strike="noStrike">
                        <a:solidFill>
                          <a:srgbClr val="ffffff"/>
                        </a:solidFill>
                        <a:latin typeface="Arial"/>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T (ºC)</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Vout Sensor (V)</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Vout OpAmp (V)</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ADC counts (LCD)</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OpAmp (LCD)</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Sensor Out (LCD)</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Measured T in LCD</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c>
                  <a:txBody>
                    <a:bodyPr lIns="36000" rIns="36000" tIns="36000" bIns="36000" anchor="ctr">
                      <a:noAutofit/>
                    </a:bodyPr>
                    <a:p>
                      <a:pPr algn="ctr"/>
                      <a:r>
                        <a:rPr b="1" lang="en-GB" sz="1400" spc="-1" strike="noStrike">
                          <a:solidFill>
                            <a:srgbClr val="000000"/>
                          </a:solidFill>
                          <a:latin typeface="Times New Roman"/>
                        </a:rPr>
                        <a:t>Error %</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90292a"/>
                    </a:solidFill>
                  </a:tcPr>
                </a:tc>
              </a:tr>
              <a:tr h="532440">
                <a:tc>
                  <a:txBody>
                    <a:bodyPr lIns="36000" rIns="36000" tIns="36000" bIns="36000" anchor="ctr">
                      <a:noAutofit/>
                    </a:bodyPr>
                    <a:p>
                      <a:r>
                        <a:rPr b="1" lang="en-GB" sz="1400" spc="-1" strike="noStrike">
                          <a:solidFill>
                            <a:srgbClr val="000000"/>
                          </a:solidFill>
                          <a:latin typeface="Times New Roman"/>
                        </a:rPr>
                        <a:t>Minimum Temp. value</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0ºC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500mV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273mV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56</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273mV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498mV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0ºC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0.4%</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a:noFill/>
                    </a:lnT>
                    <a:lnB w="7200">
                      <a:solidFill>
                        <a:srgbClr val="666666"/>
                      </a:solidFill>
                      <a:prstDash val="solid"/>
                    </a:lnB>
                    <a:solidFill>
                      <a:srgbClr val="cccccc"/>
                    </a:solidFill>
                  </a:tcPr>
                </a:tc>
              </a:tr>
              <a:tr h="532440">
                <a:tc>
                  <a:txBody>
                    <a:bodyPr lIns="36000" rIns="36000" tIns="36000" bIns="36000" anchor="ctr">
                      <a:noAutofit/>
                    </a:bodyPr>
                    <a:p>
                      <a:r>
                        <a:rPr b="1" lang="en-GB" sz="1400" spc="-1" strike="noStrike">
                          <a:solidFill>
                            <a:srgbClr val="000000"/>
                          </a:solidFill>
                          <a:latin typeface="Times New Roman"/>
                        </a:rPr>
                        <a:t>T1</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32ºC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829mV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2.15V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439</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2145mV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830mV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33ºC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-0.12%</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r h="532440">
                <a:tc>
                  <a:txBody>
                    <a:bodyPr lIns="36000" rIns="36000" tIns="36000" bIns="36000" anchor="ctr">
                      <a:noAutofit/>
                    </a:bodyPr>
                    <a:p>
                      <a:r>
                        <a:rPr b="1" lang="en-GB" sz="1400" spc="-1" strike="noStrike">
                          <a:solidFill>
                            <a:srgbClr val="000000"/>
                          </a:solidFill>
                          <a:latin typeface="Times New Roman"/>
                        </a:rPr>
                        <a:t>T2</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56ºC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1.06V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3.45V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706</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3450mV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1060mV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56ºC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c>
                  <a:txBody>
                    <a:bodyPr lIns="36000" rIns="36000" tIns="36000" bIns="36000" anchor="ctr">
                      <a:noAutofit/>
                    </a:bodyPr>
                    <a:p>
                      <a:pPr algn="ctr"/>
                      <a:r>
                        <a:rPr b="0" lang="en-GB" sz="1500" spc="-1" strike="noStrike">
                          <a:solidFill>
                            <a:srgbClr val="000000"/>
                          </a:solidFill>
                          <a:latin typeface="Times New Roman"/>
                        </a:rPr>
                        <a:t>0%</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cccccc"/>
                    </a:solidFill>
                  </a:tcPr>
                </a:tc>
              </a:tr>
              <a:tr h="533520">
                <a:tc>
                  <a:txBody>
                    <a:bodyPr lIns="36000" rIns="36000" tIns="36000" bIns="36000" anchor="ctr">
                      <a:noAutofit/>
                    </a:bodyPr>
                    <a:p>
                      <a:r>
                        <a:rPr b="1" lang="en-GB" sz="1400" spc="-1" strike="noStrike">
                          <a:solidFill>
                            <a:srgbClr val="000000"/>
                          </a:solidFill>
                          <a:latin typeface="Times New Roman"/>
                        </a:rPr>
                        <a:t>Maximum Temp. value</a:t>
                      </a:r>
                      <a:endParaRPr b="1" lang="en-GB" sz="14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80ºC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1.30V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4.81V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984</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4809mV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1300mV</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80ºC</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c>
                  <a:txBody>
                    <a:bodyPr lIns="36000" rIns="36000" tIns="36000" bIns="36000" anchor="ctr">
                      <a:noAutofit/>
                    </a:bodyPr>
                    <a:p>
                      <a:pPr algn="ctr"/>
                      <a:r>
                        <a:rPr b="0" lang="en-GB" sz="1500" spc="-1" strike="noStrike">
                          <a:solidFill>
                            <a:srgbClr val="000000"/>
                          </a:solidFill>
                          <a:latin typeface="Times New Roman"/>
                        </a:rPr>
                        <a:t>0%</a:t>
                      </a:r>
                      <a:endParaRPr b="0" lang="en-GB" sz="1500" spc="-1" strike="noStrike">
                        <a:solidFill>
                          <a:srgbClr val="000000"/>
                        </a:solidFill>
                        <a:latin typeface="Times New Roman"/>
                      </a:endParaRPr>
                    </a:p>
                  </a:txBody>
                  <a:tcPr anchor="ctr" marL="36000" marR="36000">
                    <a:lnL w="7200">
                      <a:solidFill>
                        <a:srgbClr val="666666"/>
                      </a:solidFill>
                      <a:prstDash val="solid"/>
                    </a:lnL>
                    <a:lnR w="7200">
                      <a:solidFill>
                        <a:srgbClr val="666666"/>
                      </a:solidFill>
                      <a:prstDash val="solid"/>
                    </a:lnR>
                    <a:lnT w="7200">
                      <a:solidFill>
                        <a:srgbClr val="666666"/>
                      </a:solidFill>
                      <a:prstDash val="solid"/>
                    </a:lnT>
                    <a:lnB w="7200">
                      <a:solidFill>
                        <a:srgbClr val="666666"/>
                      </a:solidFill>
                      <a:prstDash val="solid"/>
                    </a:lnB>
                    <a:solidFill>
                      <a:srgbClr val="ffffff"/>
                    </a:solidFill>
                  </a:tcPr>
                </a:tc>
              </a:tr>
            </a:tbl>
          </a:graphicData>
        </a:graphic>
      </p:graphicFrame>
      <p:sp>
        <p:nvSpPr>
          <p:cNvPr id="334" name=""/>
          <p:cNvSpPr txBox="1"/>
          <p:nvPr/>
        </p:nvSpPr>
        <p:spPr>
          <a:xfrm>
            <a:off x="457200" y="4800600"/>
            <a:ext cx="10858680" cy="1478160"/>
          </a:xfrm>
          <a:prstGeom prst="rect">
            <a:avLst/>
          </a:prstGeom>
          <a:noFill/>
          <a:ln w="0">
            <a:noFill/>
          </a:ln>
        </p:spPr>
        <p:txBody>
          <a:bodyPr lIns="0" rIns="0" tIns="0" bIns="0" anchor="t">
            <a:noAutofit/>
          </a:bodyPr>
          <a:p>
            <a:r>
              <a:rPr b="1" lang="en-GB" sz="2000" spc="-1" strike="noStrike">
                <a:solidFill>
                  <a:srgbClr val="000000"/>
                </a:solidFill>
                <a:latin typeface="Times New Roman"/>
              </a:rPr>
              <a:t>Table V – </a:t>
            </a:r>
            <a:r>
              <a:rPr b="0" lang="en-GB" sz="2000" spc="-1" strike="noStrike">
                <a:solidFill>
                  <a:srgbClr val="000000"/>
                </a:solidFill>
                <a:latin typeface="Times New Roman"/>
              </a:rPr>
              <a:t>It’s a final table where we consider the 8 values between the minimum and maximum input sensor range. Finally, we calculate the error% between sensor value and sensor output shown in LCD display value.</a:t>
            </a:r>
            <a:endParaRPr b="0" lang="en-GB" sz="2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5" name="" descr=""/>
          <p:cNvPicPr/>
          <p:nvPr/>
        </p:nvPicPr>
        <p:blipFill>
          <a:blip r:embed="rId1"/>
          <a:stretch/>
        </p:blipFill>
        <p:spPr>
          <a:xfrm>
            <a:off x="0" y="0"/>
            <a:ext cx="12191760" cy="504360"/>
          </a:xfrm>
          <a:prstGeom prst="rect">
            <a:avLst/>
          </a:prstGeom>
          <a:ln w="0">
            <a:noFill/>
          </a:ln>
        </p:spPr>
      </p:pic>
      <p:sp>
        <p:nvSpPr>
          <p:cNvPr id="336" name=""/>
          <p:cNvSpPr txBox="1"/>
          <p:nvPr/>
        </p:nvSpPr>
        <p:spPr>
          <a:xfrm>
            <a:off x="364680" y="697320"/>
            <a:ext cx="830664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Final evaluation of Laboratory 1</a:t>
            </a:r>
            <a:endParaRPr b="0" lang="en-GB" sz="3609" spc="-1" strike="noStrike">
              <a:solidFill>
                <a:srgbClr val="000000"/>
              </a:solidFill>
              <a:latin typeface="Times New Roman"/>
            </a:endParaRPr>
          </a:p>
        </p:txBody>
      </p:sp>
      <p:sp>
        <p:nvSpPr>
          <p:cNvPr id="337" name=""/>
          <p:cNvSpPr txBox="1"/>
          <p:nvPr/>
        </p:nvSpPr>
        <p:spPr>
          <a:xfrm>
            <a:off x="237240" y="1600200"/>
            <a:ext cx="11649960" cy="4935240"/>
          </a:xfrm>
          <a:prstGeom prst="rect">
            <a:avLst/>
          </a:prstGeom>
          <a:noFill/>
          <a:ln w="0">
            <a:noFill/>
          </a:ln>
        </p:spPr>
        <p:txBody>
          <a:bodyPr lIns="0" rIns="0" tIns="0" bIns="0" anchor="t">
            <a:noAutofit/>
          </a:bodyPr>
          <a:p>
            <a:r>
              <a:rPr b="0" lang="en-GB" sz="1500" spc="-1" strike="noStrike">
                <a:solidFill>
                  <a:srgbClr val="000000"/>
                </a:solidFill>
                <a:latin typeface="Times New Roman"/>
              </a:rPr>
              <a:t>This laboratory practice successfully demonstrated the implementation of a complete temperature sensing system, from the beginning using the simple potentiometer and show the output on the voltmeter. Calculating and convert the values using other components such as the TMP36 sensor, OpAmp 741 conditioning circuit, and Arduino Uno microcontroller.</a:t>
            </a:r>
            <a:endParaRPr b="0" lang="en-GB" sz="1500" spc="-1" strike="noStrike">
              <a:solidFill>
                <a:srgbClr val="000000"/>
              </a:solidFill>
              <a:latin typeface="Times New Roman"/>
            </a:endParaRPr>
          </a:p>
          <a:p>
            <a:r>
              <a:rPr b="1" lang="en-GB" sz="1500" spc="-1" strike="noStrike">
                <a:solidFill>
                  <a:srgbClr val="000000"/>
                </a:solidFill>
                <a:latin typeface="Times New Roman"/>
              </a:rPr>
              <a:t>Key achievements learnt:</a:t>
            </a:r>
            <a:endParaRPr b="0" lang="en-GB" sz="1500" spc="-1" strike="noStrike">
              <a:solidFill>
                <a:srgbClr val="000000"/>
              </a:solidFill>
              <a:latin typeface="Times New Roman"/>
            </a:endParaRPr>
          </a:p>
          <a:p>
            <a:r>
              <a:rPr b="0" lang="en-GB" sz="1500" spc="-1" strike="noStrike">
                <a:solidFill>
                  <a:srgbClr val="000000"/>
                </a:solidFill>
                <a:latin typeface="Times New Roman"/>
              </a:rPr>
              <a:t>- Designed and implemented a non-inverting amplifier circuit that optimised the ADC input range from 0.25V to 4.75V for the 0-80°C temperature range.</a:t>
            </a:r>
            <a:endParaRPr b="0" lang="en-GB" sz="1500" spc="-1" strike="noStrike">
              <a:solidFill>
                <a:srgbClr val="000000"/>
              </a:solidFill>
              <a:latin typeface="Times New Roman"/>
            </a:endParaRPr>
          </a:p>
          <a:p>
            <a:r>
              <a:rPr b="0" lang="en-GB" sz="1500" spc="-1" strike="noStrike">
                <a:solidFill>
                  <a:srgbClr val="000000"/>
                </a:solidFill>
                <a:latin typeface="Times New Roman"/>
              </a:rPr>
              <a:t>- Calculated optimal resistor values (Rf=100kΩ, Rl=24kΩ, Rh=195kΩ) achieving a gain of 5.6 and offset of 2.56V</a:t>
            </a:r>
            <a:endParaRPr b="0" lang="en-GB" sz="1500" spc="-1" strike="noStrike">
              <a:solidFill>
                <a:srgbClr val="000000"/>
              </a:solidFill>
              <a:latin typeface="Times New Roman"/>
            </a:endParaRPr>
          </a:p>
          <a:p>
            <a:r>
              <a:rPr b="0" lang="en-GB" sz="1500" spc="-1" strike="noStrike">
                <a:solidFill>
                  <a:srgbClr val="000000"/>
                </a:solidFill>
                <a:latin typeface="Times New Roman"/>
              </a:rPr>
              <a:t>- Successfully integrated LCD display to show ADC steps, amplified voltage (VA), sensor voltage (Vs), and calculated temperature</a:t>
            </a:r>
            <a:endParaRPr b="0" lang="en-GB" sz="1500" spc="-1" strike="noStrike">
              <a:solidFill>
                <a:srgbClr val="000000"/>
              </a:solidFill>
              <a:latin typeface="Times New Roman"/>
            </a:endParaRPr>
          </a:p>
          <a:p>
            <a:r>
              <a:rPr b="0" lang="en-GB" sz="1500" spc="-1" strike="noStrike">
                <a:solidFill>
                  <a:srgbClr val="000000"/>
                </a:solidFill>
                <a:latin typeface="Times New Roman"/>
              </a:rPr>
              <a:t>- Improved measurement resolution from 0.405°C/step to 0.15°C/step through proper signal conditioning</a:t>
            </a:r>
            <a:endParaRPr b="0" lang="en-GB" sz="1500" spc="-1" strike="noStrike">
              <a:solidFill>
                <a:srgbClr val="000000"/>
              </a:solidFill>
              <a:latin typeface="Times New Roman"/>
            </a:endParaRPr>
          </a:p>
          <a:p>
            <a:r>
              <a:rPr b="0" lang="en-GB" sz="1500" spc="-1" strike="noStrike">
                <a:solidFill>
                  <a:srgbClr val="000000"/>
                </a:solidFill>
                <a:latin typeface="Times New Roman"/>
              </a:rPr>
              <a:t>The practice reinforced understanding of analog signal conditioning, ADC conversion principles, and the importance of maximising input voltage span for better measurement accuracy. Finally, the hands-on experience with Tinkercad simulation validated theoretical calculations and demonstrated practical circuit design optimisation techniques essential in biomedical instrumentation.</a:t>
            </a:r>
            <a:endParaRPr b="0" lang="en-GB" sz="1500" spc="-1" strike="noStrike">
              <a:solidFill>
                <a:srgbClr val="000000"/>
              </a:solidFill>
              <a:latin typeface="Times New Roman"/>
            </a:endParaRPr>
          </a:p>
          <a:p>
            <a:endParaRPr b="0" lang="en-GB" sz="1500" spc="-1" strike="noStrike">
              <a:solidFill>
                <a:srgbClr val="000000"/>
              </a:solidFill>
              <a:latin typeface="Times New Roman"/>
            </a:endParaRPr>
          </a:p>
          <a:p>
            <a:r>
              <a:rPr b="1" lang="en-GB" sz="1500" spc="-1" strike="noStrike">
                <a:solidFill>
                  <a:srgbClr val="000000"/>
                </a:solidFill>
                <a:latin typeface="Times New Roman"/>
              </a:rPr>
              <a:t>Marco Russo</a:t>
            </a:r>
            <a:br>
              <a:rPr sz="1500"/>
            </a:br>
            <a:r>
              <a:rPr b="0" lang="en-GB" sz="1500" spc="-1" strike="noStrike">
                <a:solidFill>
                  <a:srgbClr val="000000"/>
                </a:solidFill>
                <a:latin typeface="Times New Roman"/>
              </a:rPr>
              <a:t>marco.russo@estudiants.urv.cat </a:t>
            </a:r>
            <a:br>
              <a:rPr sz="1500"/>
            </a:br>
            <a:endParaRPr b="0" lang="en-GB" sz="1500" spc="-1" strike="noStrike">
              <a:solidFill>
                <a:srgbClr val="000000"/>
              </a:solidFill>
              <a:latin typeface="Times New Roman"/>
            </a:endParaRPr>
          </a:p>
          <a:p>
            <a:endParaRPr b="0" lang="en-GB" sz="15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8" name="" descr=""/>
          <p:cNvPicPr/>
          <p:nvPr/>
        </p:nvPicPr>
        <p:blipFill>
          <a:blip r:embed="rId1"/>
          <a:stretch/>
        </p:blipFill>
        <p:spPr>
          <a:xfrm>
            <a:off x="0" y="0"/>
            <a:ext cx="12191760" cy="504360"/>
          </a:xfrm>
          <a:prstGeom prst="rect">
            <a:avLst/>
          </a:prstGeom>
          <a:ln w="0">
            <a:noFill/>
          </a:ln>
        </p:spPr>
      </p:pic>
      <p:sp>
        <p:nvSpPr>
          <p:cNvPr id="339" name=""/>
          <p:cNvSpPr txBox="1"/>
          <p:nvPr/>
        </p:nvSpPr>
        <p:spPr>
          <a:xfrm>
            <a:off x="364680" y="697320"/>
            <a:ext cx="830664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Final evaluation of Laboratory 1</a:t>
            </a:r>
            <a:endParaRPr b="0" lang="en-GB" sz="3609"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0" name="" descr=""/>
          <p:cNvPicPr/>
          <p:nvPr/>
        </p:nvPicPr>
        <p:blipFill>
          <a:blip r:embed="rId1"/>
          <a:stretch/>
        </p:blipFill>
        <p:spPr>
          <a:xfrm>
            <a:off x="0" y="0"/>
            <a:ext cx="12191760" cy="504360"/>
          </a:xfrm>
          <a:prstGeom prst="rect">
            <a:avLst/>
          </a:prstGeom>
          <a:ln w="0">
            <a:noFill/>
          </a:ln>
        </p:spPr>
      </p:pic>
      <p:sp>
        <p:nvSpPr>
          <p:cNvPr id="341" name=""/>
          <p:cNvSpPr txBox="1"/>
          <p:nvPr/>
        </p:nvSpPr>
        <p:spPr>
          <a:xfrm>
            <a:off x="364680" y="697320"/>
            <a:ext cx="830664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Final evaluation of Laboratory 1</a:t>
            </a:r>
            <a:endParaRPr b="0" lang="en-GB" sz="3609"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2" name="" descr=""/>
          <p:cNvPicPr/>
          <p:nvPr/>
        </p:nvPicPr>
        <p:blipFill>
          <a:blip r:embed="rId1"/>
          <a:stretch/>
        </p:blipFill>
        <p:spPr>
          <a:xfrm>
            <a:off x="0" y="0"/>
            <a:ext cx="12191760" cy="504360"/>
          </a:xfrm>
          <a:prstGeom prst="rect">
            <a:avLst/>
          </a:prstGeom>
          <a:ln w="0">
            <a:noFill/>
          </a:ln>
        </p:spPr>
      </p:pic>
      <p:sp>
        <p:nvSpPr>
          <p:cNvPr id="343" name=""/>
          <p:cNvSpPr txBox="1"/>
          <p:nvPr/>
        </p:nvSpPr>
        <p:spPr>
          <a:xfrm>
            <a:off x="364680" y="697320"/>
            <a:ext cx="830664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Final evaluation of Laboratory 1</a:t>
            </a:r>
            <a:endParaRPr b="0" lang="en-GB" sz="3609"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 descr=""/>
          <p:cNvPicPr/>
          <p:nvPr/>
        </p:nvPicPr>
        <p:blipFill>
          <a:blip r:embed="rId1"/>
          <a:stretch/>
        </p:blipFill>
        <p:spPr>
          <a:xfrm>
            <a:off x="0" y="0"/>
            <a:ext cx="12191760" cy="504360"/>
          </a:xfrm>
          <a:prstGeom prst="rect">
            <a:avLst/>
          </a:prstGeom>
          <a:ln w="0">
            <a:noFill/>
          </a:ln>
        </p:spPr>
      </p:pic>
      <p:sp>
        <p:nvSpPr>
          <p:cNvPr id="345" name=""/>
          <p:cNvSpPr txBox="1"/>
          <p:nvPr/>
        </p:nvSpPr>
        <p:spPr>
          <a:xfrm>
            <a:off x="364680" y="697320"/>
            <a:ext cx="7678800" cy="646560"/>
          </a:xfrm>
          <a:prstGeom prst="rect">
            <a:avLst/>
          </a:prstGeom>
          <a:noFill/>
          <a:ln w="0">
            <a:noFill/>
          </a:ln>
        </p:spPr>
        <p:txBody>
          <a:bodyPr lIns="0" rIns="0" tIns="0" bIns="0" anchor="t">
            <a:noAutofit/>
          </a:bodyPr>
          <a:p>
            <a:r>
              <a:rPr b="1" lang="en-GB" sz="3609" spc="-1" strike="noStrike">
                <a:solidFill>
                  <a:srgbClr val="90292a"/>
                </a:solidFill>
                <a:latin typeface="Arial Black"/>
                <a:ea typeface="Arial Black"/>
              </a:rPr>
              <a:t>Thank you for your attention!</a:t>
            </a:r>
            <a:endParaRPr b="0" lang="en-GB" sz="3609" spc="-1" strike="noStrike">
              <a:solidFill>
                <a:srgbClr val="000000"/>
              </a:solidFill>
              <a:latin typeface="Times New Roman"/>
            </a:endParaRPr>
          </a:p>
        </p:txBody>
      </p:sp>
      <p:sp>
        <p:nvSpPr>
          <p:cNvPr id="346" name=""/>
          <p:cNvSpPr txBox="1"/>
          <p:nvPr/>
        </p:nvSpPr>
        <p:spPr>
          <a:xfrm>
            <a:off x="456120" y="1635120"/>
            <a:ext cx="1437840" cy="340200"/>
          </a:xfrm>
          <a:prstGeom prst="rect">
            <a:avLst/>
          </a:prstGeom>
          <a:noFill/>
          <a:ln w="0">
            <a:noFill/>
          </a:ln>
        </p:spPr>
        <p:txBody>
          <a:bodyPr lIns="0" rIns="0" tIns="0" bIns="0" anchor="t">
            <a:noAutofit/>
          </a:bodyPr>
          <a:p>
            <a:r>
              <a:rPr b="0" lang="en-GB" sz="2400" spc="-1" strike="noStrike">
                <a:solidFill>
                  <a:srgbClr val="90282a"/>
                </a:solidFill>
                <a:latin typeface="Arial"/>
                <a:ea typeface="Arial"/>
              </a:rPr>
              <a:t>►</a:t>
            </a:r>
            <a:r>
              <a:rPr b="0" lang="en-GB" sz="2400" spc="-1" strike="noStrike">
                <a:solidFill>
                  <a:srgbClr val="000000"/>
                </a:solidFill>
                <a:latin typeface="Arial"/>
                <a:ea typeface="Arial"/>
              </a:rPr>
              <a:t> </a:t>
            </a:r>
            <a:r>
              <a:rPr b="0" lang="en-GB" sz="2400" spc="-1" strike="noStrike">
                <a:solidFill>
                  <a:srgbClr val="000000"/>
                </a:solidFill>
                <a:latin typeface="Arial"/>
                <a:ea typeface="Arial"/>
              </a:rPr>
              <a:t>Contact</a:t>
            </a:r>
            <a:endParaRPr b="0" lang="en-GB" sz="2400" spc="-1" strike="noStrike">
              <a:solidFill>
                <a:srgbClr val="000000"/>
              </a:solidFill>
              <a:latin typeface="Times New Roman"/>
            </a:endParaRPr>
          </a:p>
        </p:txBody>
      </p:sp>
      <p:sp>
        <p:nvSpPr>
          <p:cNvPr id="347" name=""/>
          <p:cNvSpPr txBox="1"/>
          <p:nvPr/>
        </p:nvSpPr>
        <p:spPr>
          <a:xfrm>
            <a:off x="799920" y="1995840"/>
            <a:ext cx="3250080" cy="1433160"/>
          </a:xfrm>
          <a:prstGeom prst="rect">
            <a:avLst/>
          </a:prstGeom>
          <a:noFill/>
          <a:ln w="0">
            <a:noFill/>
          </a:ln>
        </p:spPr>
        <p:txBody>
          <a:bodyPr lIns="0" rIns="0" tIns="0" bIns="0" anchor="t">
            <a:noAutofit/>
          </a:bodyPr>
          <a:p>
            <a:r>
              <a:rPr b="0" lang="en-GB" sz="2020" spc="-1" strike="noStrike">
                <a:solidFill>
                  <a:srgbClr val="000000"/>
                </a:solidFill>
                <a:latin typeface="Arial"/>
                <a:ea typeface="Arial"/>
              </a:rPr>
              <a:t> </a:t>
            </a:r>
            <a:endParaRPr b="0" lang="en-GB" sz="2020" spc="-1" strike="noStrike">
              <a:solidFill>
                <a:srgbClr val="000000"/>
              </a:solidFill>
              <a:latin typeface="Times New Roman"/>
            </a:endParaRPr>
          </a:p>
          <a:p>
            <a:r>
              <a:rPr b="0" lang="en-GB" sz="2020" spc="-1" strike="noStrike">
                <a:solidFill>
                  <a:srgbClr val="90282a"/>
                </a:solidFill>
                <a:latin typeface="Arial"/>
                <a:ea typeface="Arial"/>
              </a:rPr>
              <a:t>►</a:t>
            </a:r>
            <a:r>
              <a:rPr b="0" lang="en-GB" sz="2020" spc="-1" strike="noStrike">
                <a:solidFill>
                  <a:srgbClr val="000000"/>
                </a:solidFill>
                <a:latin typeface="Arial"/>
                <a:ea typeface="Arial"/>
              </a:rPr>
              <a:t> </a:t>
            </a:r>
            <a:r>
              <a:rPr b="0" lang="en-GB" sz="1870" spc="-1" strike="noStrike">
                <a:solidFill>
                  <a:srgbClr val="8c2930"/>
                </a:solidFill>
                <a:latin typeface="Arial"/>
                <a:ea typeface="Arial"/>
              </a:rPr>
              <a:t>Carmen Aznar Mathonneau</a:t>
            </a:r>
            <a:endParaRPr b="0" lang="en-GB" sz="1870" spc="-1" strike="noStrike">
              <a:solidFill>
                <a:srgbClr val="000000"/>
              </a:solidFill>
              <a:latin typeface="Times New Roman"/>
            </a:endParaRPr>
          </a:p>
          <a:p>
            <a:r>
              <a:rPr b="0" lang="en-GB" sz="2020" spc="-1" strike="noStrike">
                <a:solidFill>
                  <a:srgbClr val="90282a"/>
                </a:solidFill>
                <a:latin typeface="Arial"/>
                <a:ea typeface="Arial"/>
              </a:rPr>
              <a:t>► </a:t>
            </a:r>
            <a:r>
              <a:rPr b="0" lang="en-GB" sz="1870" spc="-1" strike="noStrike">
                <a:solidFill>
                  <a:srgbClr val="8c2930"/>
                </a:solidFill>
                <a:latin typeface="Arial"/>
                <a:ea typeface="Arial"/>
              </a:rPr>
              <a:t>Yuxi Qiao</a:t>
            </a:r>
            <a:endParaRPr b="0" lang="en-GB" sz="1870" spc="-1" strike="noStrike">
              <a:solidFill>
                <a:srgbClr val="000000"/>
              </a:solidFill>
              <a:latin typeface="Times New Roman"/>
            </a:endParaRPr>
          </a:p>
          <a:p>
            <a:r>
              <a:rPr b="0" lang="en-GB" sz="2020" spc="-1" strike="noStrike">
                <a:solidFill>
                  <a:srgbClr val="90282a"/>
                </a:solidFill>
                <a:latin typeface="Arial"/>
                <a:ea typeface="Arial"/>
              </a:rPr>
              <a:t>► </a:t>
            </a:r>
            <a:r>
              <a:rPr b="0" lang="en-GB" sz="1870" spc="-1" strike="noStrike">
                <a:solidFill>
                  <a:srgbClr val="8c2930"/>
                </a:solidFill>
                <a:latin typeface="Arial"/>
                <a:ea typeface="Arial"/>
              </a:rPr>
              <a:t>Marco Russo - </a:t>
            </a:r>
            <a:endParaRPr b="0" lang="en-GB" sz="1870" spc="-1" strike="noStrike">
              <a:solidFill>
                <a:srgbClr val="000000"/>
              </a:solidFill>
              <a:latin typeface="Times New Roman"/>
            </a:endParaRPr>
          </a:p>
          <a:p>
            <a:r>
              <a:rPr b="0" lang="en-GB" sz="2020" spc="-1" strike="noStrike">
                <a:solidFill>
                  <a:srgbClr val="90282a"/>
                </a:solidFill>
                <a:latin typeface="Arial"/>
                <a:ea typeface="Arial"/>
              </a:rPr>
              <a:t>► </a:t>
            </a:r>
            <a:r>
              <a:rPr b="0" lang="en-GB" sz="1870" spc="-1" strike="noStrike">
                <a:solidFill>
                  <a:srgbClr val="8c2930"/>
                </a:solidFill>
                <a:latin typeface="Arial"/>
                <a:ea typeface="Arial"/>
              </a:rPr>
              <a:t>Kamela Xhengo</a:t>
            </a:r>
            <a:endParaRPr b="0" lang="en-GB" sz="1870" spc="-1" strike="noStrike">
              <a:solidFill>
                <a:srgbClr val="000000"/>
              </a:solidFill>
              <a:latin typeface="Times New Roman"/>
            </a:endParaRPr>
          </a:p>
        </p:txBody>
      </p:sp>
      <p:pic>
        <p:nvPicPr>
          <p:cNvPr id="348" name="" descr=""/>
          <p:cNvPicPr/>
          <p:nvPr/>
        </p:nvPicPr>
        <p:blipFill>
          <a:blip r:embed="rId2"/>
          <a:stretch/>
        </p:blipFill>
        <p:spPr>
          <a:xfrm>
            <a:off x="9029520" y="752760"/>
            <a:ext cx="2714400" cy="84744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444</TotalTime>
  <Application>LibreOffice/7.6.6.3$Linux_X86_64 LibreOffice_project/d97b2716a9a4a2ce1391dee1765565ea469b0ae7</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2025-11-02T15:46:08Z</dcterms:modified>
  <cp:revision>39</cp:revision>
  <dc:subject/>
  <dc:title/>
</cp:coreProperties>
</file>